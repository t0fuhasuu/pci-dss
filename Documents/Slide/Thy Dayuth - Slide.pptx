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Times New Roman Bold" panose="020208030705050203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0.sv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10.sv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7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1480" y="-462915"/>
            <a:ext cx="1873339" cy="11109960"/>
            <a:chOff x="0" y="0"/>
            <a:chExt cx="2497785" cy="14813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7836" cy="14813280"/>
            </a:xfrm>
            <a:custGeom>
              <a:avLst/>
              <a:gdLst/>
              <a:ahLst/>
              <a:cxnLst/>
              <a:rect l="l" t="t" r="r" b="b"/>
              <a:pathLst>
                <a:path w="2497836" h="14813280">
                  <a:moveTo>
                    <a:pt x="0" y="0"/>
                  </a:moveTo>
                  <a:lnTo>
                    <a:pt x="2497836" y="0"/>
                  </a:lnTo>
                  <a:lnTo>
                    <a:pt x="2497836" y="14813280"/>
                  </a:lnTo>
                  <a:lnTo>
                    <a:pt x="0" y="1481328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 rot="-3069180">
            <a:off x="5038981" y="3469337"/>
            <a:ext cx="11832262" cy="12969557"/>
            <a:chOff x="0" y="0"/>
            <a:chExt cx="11993093" cy="131458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3118" cy="13145897"/>
            </a:xfrm>
            <a:custGeom>
              <a:avLst/>
              <a:gdLst/>
              <a:ahLst/>
              <a:cxnLst/>
              <a:rect l="l" t="t" r="r" b="b"/>
              <a:pathLst>
                <a:path w="11993118" h="13145897">
                  <a:moveTo>
                    <a:pt x="11993118" y="11841480"/>
                  </a:moveTo>
                  <a:lnTo>
                    <a:pt x="11993118" y="12638787"/>
                  </a:lnTo>
                  <a:lnTo>
                    <a:pt x="10804652" y="12638787"/>
                  </a:lnTo>
                  <a:lnTo>
                    <a:pt x="10174986" y="13145897"/>
                  </a:lnTo>
                  <a:lnTo>
                    <a:pt x="9766554" y="12638787"/>
                  </a:lnTo>
                  <a:lnTo>
                    <a:pt x="9703689" y="12638787"/>
                  </a:lnTo>
                  <a:lnTo>
                    <a:pt x="9703689" y="12560681"/>
                  </a:lnTo>
                  <a:lnTo>
                    <a:pt x="0" y="512064"/>
                  </a:lnTo>
                  <a:lnTo>
                    <a:pt x="635889" y="0"/>
                  </a:lnTo>
                  <a:lnTo>
                    <a:pt x="10172700" y="11841480"/>
                  </a:lnTo>
                  <a:close/>
                </a:path>
              </a:pathLst>
            </a:custGeom>
            <a:solidFill>
              <a:srgbClr val="F88D2A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328048" y="2856728"/>
            <a:ext cx="11747687" cy="2067058"/>
            <a:chOff x="0" y="0"/>
            <a:chExt cx="15663583" cy="27560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663546" cy="2756027"/>
            </a:xfrm>
            <a:custGeom>
              <a:avLst/>
              <a:gdLst/>
              <a:ahLst/>
              <a:cxnLst/>
              <a:rect l="l" t="t" r="r" b="b"/>
              <a:pathLst>
                <a:path w="15663546" h="2756027">
                  <a:moveTo>
                    <a:pt x="0" y="459359"/>
                  </a:moveTo>
                  <a:cubicBezTo>
                    <a:pt x="0" y="205613"/>
                    <a:pt x="205613" y="0"/>
                    <a:pt x="459359" y="0"/>
                  </a:cubicBezTo>
                  <a:lnTo>
                    <a:pt x="15204187" y="0"/>
                  </a:lnTo>
                  <a:cubicBezTo>
                    <a:pt x="15457932" y="0"/>
                    <a:pt x="15663546" y="205613"/>
                    <a:pt x="15663546" y="459359"/>
                  </a:cubicBezTo>
                  <a:lnTo>
                    <a:pt x="15663546" y="2296668"/>
                  </a:lnTo>
                  <a:cubicBezTo>
                    <a:pt x="15663546" y="2550414"/>
                    <a:pt x="15457932" y="2756027"/>
                    <a:pt x="15204187" y="2756027"/>
                  </a:cubicBezTo>
                  <a:lnTo>
                    <a:pt x="459359" y="2756027"/>
                  </a:lnTo>
                  <a:cubicBezTo>
                    <a:pt x="205613" y="2756027"/>
                    <a:pt x="0" y="2550414"/>
                    <a:pt x="0" y="2296668"/>
                  </a:cubicBezTo>
                  <a:close/>
                </a:path>
              </a:pathLst>
            </a:custGeom>
            <a:solidFill>
              <a:srgbClr val="12284C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82960" y="470497"/>
            <a:ext cx="5062995" cy="1257329"/>
            <a:chOff x="0" y="0"/>
            <a:chExt cx="6750660" cy="16764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50685" cy="1676400"/>
            </a:xfrm>
            <a:custGeom>
              <a:avLst/>
              <a:gdLst/>
              <a:ahLst/>
              <a:cxnLst/>
              <a:rect l="l" t="t" r="r" b="b"/>
              <a:pathLst>
                <a:path w="6750685" h="1676400">
                  <a:moveTo>
                    <a:pt x="0" y="0"/>
                  </a:moveTo>
                  <a:lnTo>
                    <a:pt x="6750685" y="0"/>
                  </a:lnTo>
                  <a:lnTo>
                    <a:pt x="6750685" y="1676400"/>
                  </a:lnTo>
                  <a:lnTo>
                    <a:pt x="0" y="167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1988" b="-50751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030350" y="3655505"/>
            <a:ext cx="7547755" cy="7251849"/>
            <a:chOff x="0" y="0"/>
            <a:chExt cx="10063673" cy="966913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63724" cy="9669145"/>
            </a:xfrm>
            <a:custGeom>
              <a:avLst/>
              <a:gdLst/>
              <a:ahLst/>
              <a:cxnLst/>
              <a:rect l="l" t="t" r="r" b="b"/>
              <a:pathLst>
                <a:path w="10063724" h="9669145">
                  <a:moveTo>
                    <a:pt x="0" y="0"/>
                  </a:moveTo>
                  <a:lnTo>
                    <a:pt x="10063724" y="0"/>
                  </a:lnTo>
                  <a:lnTo>
                    <a:pt x="10063724" y="9669145"/>
                  </a:lnTo>
                  <a:lnTo>
                    <a:pt x="0" y="9669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196" r="-8196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" name="Freeform 12" descr="Shield Tick outline"/>
          <p:cNvSpPr/>
          <p:nvPr/>
        </p:nvSpPr>
        <p:spPr>
          <a:xfrm>
            <a:off x="4323759" y="4309848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0"/>
                </a:moveTo>
                <a:lnTo>
                  <a:pt x="1371600" y="0"/>
                </a:lnTo>
                <a:lnTo>
                  <a:pt x="1371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 descr="Key outline"/>
          <p:cNvSpPr/>
          <p:nvPr/>
        </p:nvSpPr>
        <p:spPr>
          <a:xfrm>
            <a:off x="371846" y="2978443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0"/>
                </a:moveTo>
                <a:lnTo>
                  <a:pt x="1371600" y="0"/>
                </a:lnTo>
                <a:lnTo>
                  <a:pt x="1371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 descr="Lock outline"/>
          <p:cNvSpPr/>
          <p:nvPr/>
        </p:nvSpPr>
        <p:spPr>
          <a:xfrm>
            <a:off x="3457451" y="2849036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0"/>
                </a:moveTo>
                <a:lnTo>
                  <a:pt x="1371600" y="0"/>
                </a:lnTo>
                <a:lnTo>
                  <a:pt x="1371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Freeform 15" descr="Scales of justice outline"/>
          <p:cNvSpPr/>
          <p:nvPr/>
        </p:nvSpPr>
        <p:spPr>
          <a:xfrm>
            <a:off x="1877711" y="2379568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0"/>
                </a:moveTo>
                <a:lnTo>
                  <a:pt x="1371600" y="0"/>
                </a:lnTo>
                <a:lnTo>
                  <a:pt x="1371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Freeform 16" descr="Eye Scan outline"/>
          <p:cNvSpPr/>
          <p:nvPr/>
        </p:nvSpPr>
        <p:spPr>
          <a:xfrm>
            <a:off x="0" y="4556745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0"/>
                </a:moveTo>
                <a:lnTo>
                  <a:pt x="1371600" y="0"/>
                </a:lnTo>
                <a:lnTo>
                  <a:pt x="1371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7" name="Group 17"/>
          <p:cNvGrpSpPr/>
          <p:nvPr/>
        </p:nvGrpSpPr>
        <p:grpSpPr>
          <a:xfrm>
            <a:off x="6517405" y="333261"/>
            <a:ext cx="3988679" cy="1900971"/>
            <a:chOff x="0" y="0"/>
            <a:chExt cx="5318239" cy="2534628"/>
          </a:xfrm>
        </p:grpSpPr>
        <p:sp>
          <p:nvSpPr>
            <p:cNvPr id="18" name="Freeform 18" descr="A black background with orange letters  Description automatically generated"/>
            <p:cNvSpPr/>
            <p:nvPr/>
          </p:nvSpPr>
          <p:spPr>
            <a:xfrm>
              <a:off x="0" y="0"/>
              <a:ext cx="5318252" cy="2534666"/>
            </a:xfrm>
            <a:custGeom>
              <a:avLst/>
              <a:gdLst/>
              <a:ahLst/>
              <a:cxnLst/>
              <a:rect l="l" t="t" r="r" b="b"/>
              <a:pathLst>
                <a:path w="5318252" h="2534666">
                  <a:moveTo>
                    <a:pt x="0" y="0"/>
                  </a:moveTo>
                  <a:lnTo>
                    <a:pt x="5318252" y="0"/>
                  </a:lnTo>
                  <a:lnTo>
                    <a:pt x="5318252" y="2534666"/>
                  </a:lnTo>
                  <a:lnTo>
                    <a:pt x="0" y="2534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46" b="-4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202670" y="3128886"/>
            <a:ext cx="9998443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8"/>
              </a:lnSpc>
            </a:pPr>
            <a:r>
              <a:rPr lang="en-US" sz="4707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Network Segmentation Effectiveness for PCI DSS Scope Reduction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05224" y="5208908"/>
            <a:ext cx="10251081" cy="337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0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Prepared by		     : Mr. THY </a:t>
            </a:r>
            <a:r>
              <a:rPr lang="en-US" sz="3000" b="1" dirty="0" err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Dayuth</a:t>
            </a:r>
            <a:endParaRPr lang="en-US" sz="3000" b="1" dirty="0">
              <a:solidFill>
                <a:srgbClr val="00206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5400"/>
              </a:lnSpc>
            </a:pPr>
            <a:r>
              <a:rPr lang="en-US" sz="30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Academic Advisor	     : Mr. MEAS </a:t>
            </a:r>
            <a:r>
              <a:rPr lang="en-US" sz="3000" b="1" dirty="0" err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Sothearath</a:t>
            </a:r>
            <a:endParaRPr lang="en-US" sz="3000" b="1" dirty="0">
              <a:solidFill>
                <a:srgbClr val="00206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5400"/>
              </a:lnSpc>
            </a:pPr>
            <a:r>
              <a:rPr lang="en-US" sz="30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Company Supervisor	     : Mr. PHOK Visal</a:t>
            </a:r>
          </a:p>
          <a:p>
            <a:pPr algn="l">
              <a:lnSpc>
                <a:spcPts val="5400"/>
              </a:lnSpc>
            </a:pPr>
            <a:r>
              <a:rPr lang="en-US" sz="30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Period			      : 3 Months (20 April – 20 July 2026)</a:t>
            </a:r>
          </a:p>
          <a:p>
            <a:pPr algn="l">
              <a:lnSpc>
                <a:spcPts val="5400"/>
              </a:lnSpc>
            </a:pPr>
            <a:r>
              <a:rPr lang="en-US" sz="30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Academic year		      : 2026 ~ 2027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5214" y="346548"/>
            <a:ext cx="6993522" cy="133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en-US" sz="8100" b="1" u="sng">
                <a:solidFill>
                  <a:srgbClr val="12284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234154" y="2645226"/>
            <a:ext cx="1154163" cy="1154163"/>
            <a:chOff x="0" y="0"/>
            <a:chExt cx="1538884" cy="15388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986" cy="1538986"/>
            </a:xfrm>
            <a:custGeom>
              <a:avLst/>
              <a:gdLst/>
              <a:ahLst/>
              <a:cxnLst/>
              <a:rect l="l" t="t" r="r" b="b"/>
              <a:pathLst>
                <a:path w="1538986" h="1538986">
                  <a:moveTo>
                    <a:pt x="0" y="769493"/>
                  </a:moveTo>
                  <a:cubicBezTo>
                    <a:pt x="0" y="344551"/>
                    <a:pt x="344551" y="0"/>
                    <a:pt x="769493" y="0"/>
                  </a:cubicBezTo>
                  <a:cubicBezTo>
                    <a:pt x="1194435" y="0"/>
                    <a:pt x="1538986" y="344551"/>
                    <a:pt x="1538986" y="769493"/>
                  </a:cubicBezTo>
                  <a:cubicBezTo>
                    <a:pt x="1538986" y="1194435"/>
                    <a:pt x="1194435" y="1538986"/>
                    <a:pt x="769493" y="1538986"/>
                  </a:cubicBezTo>
                  <a:cubicBezTo>
                    <a:pt x="344551" y="1538986"/>
                    <a:pt x="0" y="1194435"/>
                    <a:pt x="0" y="769493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55808" y="2658189"/>
            <a:ext cx="4617720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6102" y="2652846"/>
            <a:ext cx="470259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34154" y="4381490"/>
            <a:ext cx="1154163" cy="1154163"/>
            <a:chOff x="0" y="0"/>
            <a:chExt cx="1538884" cy="15388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38986" cy="1538986"/>
            </a:xfrm>
            <a:custGeom>
              <a:avLst/>
              <a:gdLst/>
              <a:ahLst/>
              <a:cxnLst/>
              <a:rect l="l" t="t" r="r" b="b"/>
              <a:pathLst>
                <a:path w="1538986" h="1538986">
                  <a:moveTo>
                    <a:pt x="0" y="769493"/>
                  </a:moveTo>
                  <a:cubicBezTo>
                    <a:pt x="0" y="344551"/>
                    <a:pt x="344551" y="0"/>
                    <a:pt x="769493" y="0"/>
                  </a:cubicBezTo>
                  <a:cubicBezTo>
                    <a:pt x="1194435" y="0"/>
                    <a:pt x="1538986" y="344551"/>
                    <a:pt x="1538986" y="769493"/>
                  </a:cubicBezTo>
                  <a:cubicBezTo>
                    <a:pt x="1538986" y="1194435"/>
                    <a:pt x="1194435" y="1538986"/>
                    <a:pt x="769493" y="1538986"/>
                  </a:cubicBezTo>
                  <a:cubicBezTo>
                    <a:pt x="344551" y="1538986"/>
                    <a:pt x="0" y="1194435"/>
                    <a:pt x="0" y="769493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21683" y="4435278"/>
            <a:ext cx="6145311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Description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76102" y="4389110"/>
            <a:ext cx="470259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234154" y="6117746"/>
            <a:ext cx="1154163" cy="1154163"/>
            <a:chOff x="0" y="0"/>
            <a:chExt cx="1538884" cy="15388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8986" cy="1538986"/>
            </a:xfrm>
            <a:custGeom>
              <a:avLst/>
              <a:gdLst/>
              <a:ahLst/>
              <a:cxnLst/>
              <a:rect l="l" t="t" r="r" b="b"/>
              <a:pathLst>
                <a:path w="1538986" h="1538986">
                  <a:moveTo>
                    <a:pt x="0" y="769493"/>
                  </a:moveTo>
                  <a:cubicBezTo>
                    <a:pt x="0" y="344551"/>
                    <a:pt x="344551" y="0"/>
                    <a:pt x="769493" y="0"/>
                  </a:cubicBezTo>
                  <a:cubicBezTo>
                    <a:pt x="1194435" y="0"/>
                    <a:pt x="1538986" y="344551"/>
                    <a:pt x="1538986" y="769493"/>
                  </a:cubicBezTo>
                  <a:cubicBezTo>
                    <a:pt x="1538986" y="1194435"/>
                    <a:pt x="1194435" y="1538986"/>
                    <a:pt x="769493" y="1538986"/>
                  </a:cubicBezTo>
                  <a:cubicBezTo>
                    <a:pt x="344551" y="1538986"/>
                    <a:pt x="0" y="1194435"/>
                    <a:pt x="0" y="769493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61980" y="6125366"/>
            <a:ext cx="5817870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6102" y="6125366"/>
            <a:ext cx="470259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848508" y="2691394"/>
            <a:ext cx="1154163" cy="1154163"/>
            <a:chOff x="0" y="0"/>
            <a:chExt cx="1538884" cy="15388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38986" cy="1538986"/>
            </a:xfrm>
            <a:custGeom>
              <a:avLst/>
              <a:gdLst/>
              <a:ahLst/>
              <a:cxnLst/>
              <a:rect l="l" t="t" r="r" b="b"/>
              <a:pathLst>
                <a:path w="1538986" h="1538986">
                  <a:moveTo>
                    <a:pt x="0" y="769493"/>
                  </a:moveTo>
                  <a:cubicBezTo>
                    <a:pt x="0" y="344551"/>
                    <a:pt x="344551" y="0"/>
                    <a:pt x="769493" y="0"/>
                  </a:cubicBezTo>
                  <a:cubicBezTo>
                    <a:pt x="1194435" y="0"/>
                    <a:pt x="1538986" y="344551"/>
                    <a:pt x="1538986" y="769493"/>
                  </a:cubicBezTo>
                  <a:cubicBezTo>
                    <a:pt x="1538986" y="1194435"/>
                    <a:pt x="1194435" y="1538986"/>
                    <a:pt x="769493" y="1538986"/>
                  </a:cubicBezTo>
                  <a:cubicBezTo>
                    <a:pt x="344551" y="1538986"/>
                    <a:pt x="0" y="1194435"/>
                    <a:pt x="0" y="769493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336037" y="2652846"/>
            <a:ext cx="4236720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90456" y="2699014"/>
            <a:ext cx="470259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848508" y="4402198"/>
            <a:ext cx="1154163" cy="1154163"/>
            <a:chOff x="0" y="0"/>
            <a:chExt cx="1538884" cy="15388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38986" cy="1538986"/>
            </a:xfrm>
            <a:custGeom>
              <a:avLst/>
              <a:gdLst/>
              <a:ahLst/>
              <a:cxnLst/>
              <a:rect l="l" t="t" r="r" b="b"/>
              <a:pathLst>
                <a:path w="1538986" h="1538986">
                  <a:moveTo>
                    <a:pt x="0" y="769493"/>
                  </a:moveTo>
                  <a:cubicBezTo>
                    <a:pt x="0" y="344551"/>
                    <a:pt x="344551" y="0"/>
                    <a:pt x="769493" y="0"/>
                  </a:cubicBezTo>
                  <a:cubicBezTo>
                    <a:pt x="1194435" y="0"/>
                    <a:pt x="1538986" y="344551"/>
                    <a:pt x="1538986" y="769493"/>
                  </a:cubicBezTo>
                  <a:cubicBezTo>
                    <a:pt x="1538986" y="1194435"/>
                    <a:pt x="1194435" y="1538986"/>
                    <a:pt x="769493" y="1538986"/>
                  </a:cubicBezTo>
                  <a:cubicBezTo>
                    <a:pt x="344551" y="1538986"/>
                    <a:pt x="0" y="1194435"/>
                    <a:pt x="0" y="769493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336037" y="3994318"/>
            <a:ext cx="5614959" cy="1931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Recommendation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90456" y="4409818"/>
            <a:ext cx="470259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109710" y="2645226"/>
            <a:ext cx="68580" cy="5973442"/>
            <a:chOff x="0" y="0"/>
            <a:chExt cx="91440" cy="79645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1440" cy="7964551"/>
            </a:xfrm>
            <a:custGeom>
              <a:avLst/>
              <a:gdLst/>
              <a:ahLst/>
              <a:cxnLst/>
              <a:rect l="l" t="t" r="r" b="b"/>
              <a:pathLst>
                <a:path w="91440" h="7964551">
                  <a:moveTo>
                    <a:pt x="0" y="0"/>
                  </a:moveTo>
                  <a:lnTo>
                    <a:pt x="91440" y="0"/>
                  </a:lnTo>
                  <a:lnTo>
                    <a:pt x="91440" y="7964551"/>
                  </a:lnTo>
                  <a:lnTo>
                    <a:pt x="0" y="7964551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4154" y="7807843"/>
            <a:ext cx="1154163" cy="1154163"/>
            <a:chOff x="0" y="0"/>
            <a:chExt cx="1538884" cy="153888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538986" cy="1538986"/>
            </a:xfrm>
            <a:custGeom>
              <a:avLst/>
              <a:gdLst/>
              <a:ahLst/>
              <a:cxnLst/>
              <a:rect l="l" t="t" r="r" b="b"/>
              <a:pathLst>
                <a:path w="1538986" h="1538986">
                  <a:moveTo>
                    <a:pt x="0" y="769493"/>
                  </a:moveTo>
                  <a:cubicBezTo>
                    <a:pt x="0" y="344551"/>
                    <a:pt x="344551" y="0"/>
                    <a:pt x="769493" y="0"/>
                  </a:cubicBezTo>
                  <a:cubicBezTo>
                    <a:pt x="1194435" y="0"/>
                    <a:pt x="1538986" y="344551"/>
                    <a:pt x="1538986" y="769493"/>
                  </a:cubicBezTo>
                  <a:cubicBezTo>
                    <a:pt x="1538986" y="1194435"/>
                    <a:pt x="1194435" y="1538986"/>
                    <a:pt x="769493" y="1538986"/>
                  </a:cubicBezTo>
                  <a:cubicBezTo>
                    <a:pt x="344551" y="1538986"/>
                    <a:pt x="0" y="1194435"/>
                    <a:pt x="0" y="769493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721683" y="7769295"/>
            <a:ext cx="4236720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6102" y="7815463"/>
            <a:ext cx="470259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848508" y="6298063"/>
            <a:ext cx="1154163" cy="1154163"/>
            <a:chOff x="0" y="0"/>
            <a:chExt cx="1538884" cy="15388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38986" cy="1538986"/>
            </a:xfrm>
            <a:custGeom>
              <a:avLst/>
              <a:gdLst/>
              <a:ahLst/>
              <a:cxnLst/>
              <a:rect l="l" t="t" r="r" b="b"/>
              <a:pathLst>
                <a:path w="1538986" h="1538986">
                  <a:moveTo>
                    <a:pt x="0" y="769493"/>
                  </a:moveTo>
                  <a:cubicBezTo>
                    <a:pt x="0" y="344551"/>
                    <a:pt x="344551" y="0"/>
                    <a:pt x="769493" y="0"/>
                  </a:cubicBezTo>
                  <a:cubicBezTo>
                    <a:pt x="1194435" y="0"/>
                    <a:pt x="1538986" y="344551"/>
                    <a:pt x="1538986" y="769493"/>
                  </a:cubicBezTo>
                  <a:cubicBezTo>
                    <a:pt x="1538986" y="1194435"/>
                    <a:pt x="1194435" y="1538986"/>
                    <a:pt x="769493" y="1538986"/>
                  </a:cubicBezTo>
                  <a:cubicBezTo>
                    <a:pt x="344551" y="1538986"/>
                    <a:pt x="0" y="1194435"/>
                    <a:pt x="0" y="769493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336037" y="6259516"/>
            <a:ext cx="5614959" cy="100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190456" y="6305683"/>
            <a:ext cx="381000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48843" y="2172110"/>
            <a:ext cx="5196449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Company Profile</a:t>
            </a:r>
          </a:p>
        </p:txBody>
      </p:sp>
      <p:sp>
        <p:nvSpPr>
          <p:cNvPr id="18" name="AutoShape 18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3" name="Freeform 23"/>
          <p:cNvSpPr/>
          <p:nvPr/>
        </p:nvSpPr>
        <p:spPr>
          <a:xfrm>
            <a:off x="488499" y="2759240"/>
            <a:ext cx="5084950" cy="414966"/>
          </a:xfrm>
          <a:custGeom>
            <a:avLst/>
            <a:gdLst/>
            <a:ahLst/>
            <a:cxnLst/>
            <a:rect l="l" t="t" r="r" b="b"/>
            <a:pathLst>
              <a:path w="5084950" h="414966">
                <a:moveTo>
                  <a:pt x="0" y="0"/>
                </a:moveTo>
                <a:lnTo>
                  <a:pt x="5084950" y="0"/>
                </a:lnTo>
                <a:lnTo>
                  <a:pt x="5084950" y="414966"/>
                </a:lnTo>
                <a:lnTo>
                  <a:pt x="0" y="4149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4" name="AutoShape 24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5" name="Group 25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7" name="Freeform 27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8" name="Group 28"/>
          <p:cNvGrpSpPr/>
          <p:nvPr/>
        </p:nvGrpSpPr>
        <p:grpSpPr>
          <a:xfrm>
            <a:off x="827168" y="4418387"/>
            <a:ext cx="3486814" cy="916826"/>
            <a:chOff x="0" y="0"/>
            <a:chExt cx="918338" cy="2414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18338" cy="241468"/>
            </a:xfrm>
            <a:custGeom>
              <a:avLst/>
              <a:gdLst/>
              <a:ahLst/>
              <a:cxnLst/>
              <a:rect l="l" t="t" r="r" b="b"/>
              <a:pathLst>
                <a:path w="918338" h="241468">
                  <a:moveTo>
                    <a:pt x="113237" y="0"/>
                  </a:moveTo>
                  <a:lnTo>
                    <a:pt x="805101" y="0"/>
                  </a:lnTo>
                  <a:cubicBezTo>
                    <a:pt x="867640" y="0"/>
                    <a:pt x="918338" y="50698"/>
                    <a:pt x="918338" y="113237"/>
                  </a:cubicBezTo>
                  <a:lnTo>
                    <a:pt x="918338" y="128231"/>
                  </a:lnTo>
                  <a:cubicBezTo>
                    <a:pt x="918338" y="190770"/>
                    <a:pt x="867640" y="241468"/>
                    <a:pt x="805101" y="241468"/>
                  </a:cubicBezTo>
                  <a:lnTo>
                    <a:pt x="113237" y="241468"/>
                  </a:lnTo>
                  <a:cubicBezTo>
                    <a:pt x="83205" y="241468"/>
                    <a:pt x="54403" y="229538"/>
                    <a:pt x="33166" y="208302"/>
                  </a:cubicBezTo>
                  <a:cubicBezTo>
                    <a:pt x="11930" y="187066"/>
                    <a:pt x="0" y="158263"/>
                    <a:pt x="0" y="128231"/>
                  </a:cubicBezTo>
                  <a:lnTo>
                    <a:pt x="0" y="113237"/>
                  </a:lnTo>
                  <a:cubicBezTo>
                    <a:pt x="0" y="50698"/>
                    <a:pt x="50698" y="0"/>
                    <a:pt x="113237" y="0"/>
                  </a:cubicBezTo>
                  <a:close/>
                </a:path>
              </a:pathLst>
            </a:custGeom>
            <a:solidFill>
              <a:srgbClr val="0F2D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918338" cy="250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7200579" y="4126489"/>
            <a:ext cx="3886842" cy="3787011"/>
          </a:xfrm>
          <a:custGeom>
            <a:avLst/>
            <a:gdLst/>
            <a:ahLst/>
            <a:cxnLst/>
            <a:rect l="l" t="t" r="r" b="b"/>
            <a:pathLst>
              <a:path w="3886842" h="3787011">
                <a:moveTo>
                  <a:pt x="0" y="0"/>
                </a:moveTo>
                <a:lnTo>
                  <a:pt x="3886842" y="0"/>
                </a:lnTo>
                <a:lnTo>
                  <a:pt x="3886842" y="3787012"/>
                </a:lnTo>
                <a:lnTo>
                  <a:pt x="0" y="37870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63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2" name="TextBox 32"/>
          <p:cNvSpPr txBox="1"/>
          <p:nvPr/>
        </p:nvSpPr>
        <p:spPr>
          <a:xfrm>
            <a:off x="7073412" y="3316864"/>
            <a:ext cx="414117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0"/>
              </a:lnSpc>
            </a:pPr>
            <a:r>
              <a:rPr lang="en-US" sz="3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ACLEDA Bank Plc.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28700" y="4581525"/>
            <a:ext cx="3139283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January 19, 1993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827168" y="5979232"/>
            <a:ext cx="5221418" cy="1776586"/>
            <a:chOff x="0" y="0"/>
            <a:chExt cx="1375188" cy="46790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375188" cy="467907"/>
            </a:xfrm>
            <a:custGeom>
              <a:avLst/>
              <a:gdLst/>
              <a:ahLst/>
              <a:cxnLst/>
              <a:rect l="l" t="t" r="r" b="b"/>
              <a:pathLst>
                <a:path w="1375188" h="467907">
                  <a:moveTo>
                    <a:pt x="75619" y="0"/>
                  </a:moveTo>
                  <a:lnTo>
                    <a:pt x="1299569" y="0"/>
                  </a:lnTo>
                  <a:cubicBezTo>
                    <a:pt x="1319625" y="0"/>
                    <a:pt x="1338859" y="7967"/>
                    <a:pt x="1353040" y="22148"/>
                  </a:cubicBezTo>
                  <a:cubicBezTo>
                    <a:pt x="1367221" y="36330"/>
                    <a:pt x="1375188" y="55564"/>
                    <a:pt x="1375188" y="75619"/>
                  </a:cubicBezTo>
                  <a:lnTo>
                    <a:pt x="1375188" y="392288"/>
                  </a:lnTo>
                  <a:cubicBezTo>
                    <a:pt x="1375188" y="434052"/>
                    <a:pt x="1341333" y="467907"/>
                    <a:pt x="1299569" y="467907"/>
                  </a:cubicBezTo>
                  <a:lnTo>
                    <a:pt x="75619" y="467907"/>
                  </a:lnTo>
                  <a:cubicBezTo>
                    <a:pt x="55564" y="467907"/>
                    <a:pt x="36330" y="459940"/>
                    <a:pt x="22148" y="445759"/>
                  </a:cubicBezTo>
                  <a:cubicBezTo>
                    <a:pt x="7967" y="431578"/>
                    <a:pt x="0" y="412344"/>
                    <a:pt x="0" y="392288"/>
                  </a:cubicBezTo>
                  <a:lnTo>
                    <a:pt x="0" y="75619"/>
                  </a:lnTo>
                  <a:cubicBezTo>
                    <a:pt x="0" y="55564"/>
                    <a:pt x="7967" y="36330"/>
                    <a:pt x="22148" y="22148"/>
                  </a:cubicBezTo>
                  <a:cubicBezTo>
                    <a:pt x="36330" y="7967"/>
                    <a:pt x="55564" y="0"/>
                    <a:pt x="75619" y="0"/>
                  </a:cubicBezTo>
                  <a:close/>
                </a:path>
              </a:pathLst>
            </a:custGeom>
            <a:solidFill>
              <a:srgbClr val="0F2D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375188" cy="4774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28700" y="6010275"/>
            <a:ext cx="5110289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of Cambodia’s largest and most prominent commercial banks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2293103" y="6266920"/>
            <a:ext cx="4885178" cy="1271449"/>
            <a:chOff x="0" y="0"/>
            <a:chExt cx="1286631" cy="33486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86631" cy="334867"/>
            </a:xfrm>
            <a:custGeom>
              <a:avLst/>
              <a:gdLst/>
              <a:ahLst/>
              <a:cxnLst/>
              <a:rect l="l" t="t" r="r" b="b"/>
              <a:pathLst>
                <a:path w="1286631" h="334867">
                  <a:moveTo>
                    <a:pt x="80824" y="0"/>
                  </a:moveTo>
                  <a:lnTo>
                    <a:pt x="1205808" y="0"/>
                  </a:lnTo>
                  <a:cubicBezTo>
                    <a:pt x="1250445" y="0"/>
                    <a:pt x="1286631" y="36186"/>
                    <a:pt x="1286631" y="80824"/>
                  </a:cubicBezTo>
                  <a:lnTo>
                    <a:pt x="1286631" y="254044"/>
                  </a:lnTo>
                  <a:cubicBezTo>
                    <a:pt x="1286631" y="275479"/>
                    <a:pt x="1278116" y="296037"/>
                    <a:pt x="1262958" y="311195"/>
                  </a:cubicBezTo>
                  <a:cubicBezTo>
                    <a:pt x="1247801" y="326352"/>
                    <a:pt x="1227243" y="334867"/>
                    <a:pt x="1205808" y="334867"/>
                  </a:cubicBezTo>
                  <a:lnTo>
                    <a:pt x="80824" y="334867"/>
                  </a:lnTo>
                  <a:cubicBezTo>
                    <a:pt x="59388" y="334867"/>
                    <a:pt x="38830" y="326352"/>
                    <a:pt x="23673" y="311195"/>
                  </a:cubicBezTo>
                  <a:cubicBezTo>
                    <a:pt x="8515" y="296037"/>
                    <a:pt x="0" y="275479"/>
                    <a:pt x="0" y="254044"/>
                  </a:cubicBezTo>
                  <a:lnTo>
                    <a:pt x="0" y="80824"/>
                  </a:lnTo>
                  <a:cubicBezTo>
                    <a:pt x="0" y="59388"/>
                    <a:pt x="8515" y="38830"/>
                    <a:pt x="23673" y="23673"/>
                  </a:cubicBezTo>
                  <a:cubicBezTo>
                    <a:pt x="38830" y="8515"/>
                    <a:pt x="59388" y="0"/>
                    <a:pt x="80824" y="0"/>
                  </a:cubicBezTo>
                  <a:close/>
                </a:path>
              </a:pathLst>
            </a:custGeom>
            <a:solidFill>
              <a:srgbClr val="0F2D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286631" cy="344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484987" y="8633525"/>
            <a:ext cx="7318026" cy="716149"/>
            <a:chOff x="0" y="0"/>
            <a:chExt cx="1927381" cy="18861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27381" cy="188615"/>
            </a:xfrm>
            <a:custGeom>
              <a:avLst/>
              <a:gdLst/>
              <a:ahLst/>
              <a:cxnLst/>
              <a:rect l="l" t="t" r="r" b="b"/>
              <a:pathLst>
                <a:path w="1927381" h="188615">
                  <a:moveTo>
                    <a:pt x="53954" y="0"/>
                  </a:moveTo>
                  <a:lnTo>
                    <a:pt x="1873427" y="0"/>
                  </a:lnTo>
                  <a:cubicBezTo>
                    <a:pt x="1903225" y="0"/>
                    <a:pt x="1927381" y="24156"/>
                    <a:pt x="1927381" y="53954"/>
                  </a:cubicBezTo>
                  <a:lnTo>
                    <a:pt x="1927381" y="134661"/>
                  </a:lnTo>
                  <a:cubicBezTo>
                    <a:pt x="1927381" y="164459"/>
                    <a:pt x="1903225" y="188615"/>
                    <a:pt x="1873427" y="188615"/>
                  </a:cubicBezTo>
                  <a:lnTo>
                    <a:pt x="53954" y="188615"/>
                  </a:lnTo>
                  <a:cubicBezTo>
                    <a:pt x="24156" y="188615"/>
                    <a:pt x="0" y="164459"/>
                    <a:pt x="0" y="134661"/>
                  </a:cubicBezTo>
                  <a:lnTo>
                    <a:pt x="0" y="53954"/>
                  </a:lnTo>
                  <a:cubicBezTo>
                    <a:pt x="0" y="24156"/>
                    <a:pt x="24156" y="0"/>
                    <a:pt x="53954" y="0"/>
                  </a:cubicBezTo>
                  <a:close/>
                </a:path>
              </a:pathLst>
            </a:custGeom>
            <a:solidFill>
              <a:srgbClr val="0F2D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927381" cy="1981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5600886" y="8696325"/>
            <a:ext cx="7086229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Loans, Deposits, and Money Transfers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519998" y="6305550"/>
            <a:ext cx="4568352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and the most trusted commercial bank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12361585" y="3974375"/>
            <a:ext cx="4726765" cy="1808013"/>
            <a:chOff x="0" y="0"/>
            <a:chExt cx="1244909" cy="47618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44909" cy="476184"/>
            </a:xfrm>
            <a:custGeom>
              <a:avLst/>
              <a:gdLst/>
              <a:ahLst/>
              <a:cxnLst/>
              <a:rect l="l" t="t" r="r" b="b"/>
              <a:pathLst>
                <a:path w="1244909" h="476184">
                  <a:moveTo>
                    <a:pt x="83532" y="0"/>
                  </a:moveTo>
                  <a:lnTo>
                    <a:pt x="1161377" y="0"/>
                  </a:lnTo>
                  <a:cubicBezTo>
                    <a:pt x="1183531" y="0"/>
                    <a:pt x="1204778" y="8801"/>
                    <a:pt x="1220443" y="24466"/>
                  </a:cubicBezTo>
                  <a:cubicBezTo>
                    <a:pt x="1236108" y="40131"/>
                    <a:pt x="1244909" y="61378"/>
                    <a:pt x="1244909" y="83532"/>
                  </a:cubicBezTo>
                  <a:lnTo>
                    <a:pt x="1244909" y="392652"/>
                  </a:lnTo>
                  <a:cubicBezTo>
                    <a:pt x="1244909" y="414806"/>
                    <a:pt x="1236108" y="436053"/>
                    <a:pt x="1220443" y="451718"/>
                  </a:cubicBezTo>
                  <a:cubicBezTo>
                    <a:pt x="1204778" y="467384"/>
                    <a:pt x="1183531" y="476184"/>
                    <a:pt x="1161377" y="476184"/>
                  </a:cubicBezTo>
                  <a:lnTo>
                    <a:pt x="83532" y="476184"/>
                  </a:lnTo>
                  <a:cubicBezTo>
                    <a:pt x="37399" y="476184"/>
                    <a:pt x="0" y="438786"/>
                    <a:pt x="0" y="392652"/>
                  </a:cubicBezTo>
                  <a:lnTo>
                    <a:pt x="0" y="83532"/>
                  </a:lnTo>
                  <a:cubicBezTo>
                    <a:pt x="0" y="37399"/>
                    <a:pt x="37399" y="0"/>
                    <a:pt x="83532" y="0"/>
                  </a:cubicBezTo>
                  <a:close/>
                </a:path>
              </a:pathLst>
            </a:custGeom>
            <a:solidFill>
              <a:srgbClr val="0F2D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244909" cy="4857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2549192" y="4048125"/>
            <a:ext cx="4555475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Secure, innovative, and ethical financial services sustainably</a:t>
            </a:r>
          </a:p>
        </p:txBody>
      </p:sp>
      <p:sp>
        <p:nvSpPr>
          <p:cNvPr id="56" name="AutoShape 56"/>
          <p:cNvSpPr/>
          <p:nvPr/>
        </p:nvSpPr>
        <p:spPr>
          <a:xfrm>
            <a:off x="4717965" y="4897432"/>
            <a:ext cx="1889181" cy="0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57" name="AutoShape 57"/>
          <p:cNvSpPr/>
          <p:nvPr/>
        </p:nvSpPr>
        <p:spPr>
          <a:xfrm>
            <a:off x="6376367" y="6886575"/>
            <a:ext cx="461557" cy="0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58" name="AutoShape 58"/>
          <p:cNvSpPr/>
          <p:nvPr/>
        </p:nvSpPr>
        <p:spPr>
          <a:xfrm flipV="1">
            <a:off x="9163044" y="8042809"/>
            <a:ext cx="11717" cy="461409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59" name="AutoShape 59"/>
          <p:cNvSpPr/>
          <p:nvPr/>
        </p:nvSpPr>
        <p:spPr>
          <a:xfrm flipH="1">
            <a:off x="11449775" y="6911390"/>
            <a:ext cx="461557" cy="0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0" name="AutoShape 60"/>
          <p:cNvSpPr/>
          <p:nvPr/>
        </p:nvSpPr>
        <p:spPr>
          <a:xfrm flipH="1">
            <a:off x="11360601" y="4876800"/>
            <a:ext cx="626888" cy="0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Box 61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526510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Statements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8469"/>
            <a:ext cx="5860742" cy="415738"/>
          </a:xfrm>
          <a:custGeom>
            <a:avLst/>
            <a:gdLst/>
            <a:ahLst/>
            <a:cxnLst/>
            <a:rect l="l" t="t" r="r" b="b"/>
            <a:pathLst>
              <a:path w="5860742" h="415738">
                <a:moveTo>
                  <a:pt x="0" y="0"/>
                </a:moveTo>
                <a:lnTo>
                  <a:pt x="5860742" y="0"/>
                </a:lnTo>
                <a:lnTo>
                  <a:pt x="5860742" y="415737"/>
                </a:lnTo>
                <a:lnTo>
                  <a:pt x="0" y="415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AutoShape 17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3" name="Group 23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" name="Freeform 25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6" name="Group 26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8" name="Freeform 28"/>
          <p:cNvSpPr/>
          <p:nvPr/>
        </p:nvSpPr>
        <p:spPr>
          <a:xfrm>
            <a:off x="1322437" y="4613277"/>
            <a:ext cx="8115300" cy="3797960"/>
          </a:xfrm>
          <a:custGeom>
            <a:avLst/>
            <a:gdLst/>
            <a:ahLst/>
            <a:cxnLst/>
            <a:rect l="l" t="t" r="r" b="b"/>
            <a:pathLst>
              <a:path w="8115300" h="3797960">
                <a:moveTo>
                  <a:pt x="0" y="0"/>
                </a:moveTo>
                <a:lnTo>
                  <a:pt x="8115300" y="0"/>
                </a:lnTo>
                <a:lnTo>
                  <a:pt x="8115300" y="3797960"/>
                </a:lnTo>
                <a:lnTo>
                  <a:pt x="0" y="3797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TextBox 29"/>
          <p:cNvSpPr txBox="1"/>
          <p:nvPr/>
        </p:nvSpPr>
        <p:spPr>
          <a:xfrm>
            <a:off x="6059073" y="3345656"/>
            <a:ext cx="6169855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0"/>
              </a:lnSpc>
            </a:pPr>
            <a:r>
              <a:rPr lang="en-US" sz="37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Flat Network Architecture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684174" y="303986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437737" y="4623132"/>
            <a:ext cx="7821563" cy="348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Simplicity and Ease of Deployment</a:t>
            </a:r>
          </a:p>
          <a:p>
            <a:pPr marL="755651" lvl="1" indent="-377825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Operational and Hardware Costs</a:t>
            </a:r>
          </a:p>
          <a:p>
            <a:pPr marL="755651" lvl="1" indent="-377825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Unrestricted Communication and High Throughput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84529" y="8315987"/>
            <a:ext cx="4391115" cy="82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Flat Network Topology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6212310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Statements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8469"/>
            <a:ext cx="5860742" cy="415738"/>
          </a:xfrm>
          <a:custGeom>
            <a:avLst/>
            <a:gdLst/>
            <a:ahLst/>
            <a:cxnLst/>
            <a:rect l="l" t="t" r="r" b="b"/>
            <a:pathLst>
              <a:path w="5860742" h="415738">
                <a:moveTo>
                  <a:pt x="0" y="0"/>
                </a:moveTo>
                <a:lnTo>
                  <a:pt x="5860742" y="0"/>
                </a:lnTo>
                <a:lnTo>
                  <a:pt x="5860742" y="415737"/>
                </a:lnTo>
                <a:lnTo>
                  <a:pt x="0" y="415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5125481"/>
            <a:ext cx="16230600" cy="3058874"/>
            <a:chOff x="0" y="0"/>
            <a:chExt cx="21640800" cy="4078499"/>
          </a:xfrm>
        </p:grpSpPr>
        <p:sp>
          <p:nvSpPr>
            <p:cNvPr id="7" name="TextBox 7"/>
            <p:cNvSpPr txBox="1"/>
            <p:nvPr/>
          </p:nvSpPr>
          <p:spPr>
            <a:xfrm>
              <a:off x="0" y="3076260"/>
              <a:ext cx="5369383" cy="1002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Unauthorized Access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202405" y="0"/>
              <a:ext cx="5235990" cy="3441179"/>
            </a:xfrm>
            <a:custGeom>
              <a:avLst/>
              <a:gdLst/>
              <a:ahLst/>
              <a:cxnLst/>
              <a:rect l="l" t="t" r="r" b="b"/>
              <a:pathLst>
                <a:path w="5235990" h="3441179">
                  <a:moveTo>
                    <a:pt x="0" y="0"/>
                  </a:moveTo>
                  <a:lnTo>
                    <a:pt x="5235990" y="0"/>
                  </a:lnTo>
                  <a:lnTo>
                    <a:pt x="5235990" y="3441179"/>
                  </a:lnTo>
                  <a:lnTo>
                    <a:pt x="0" y="3441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5708" y="3076260"/>
              <a:ext cx="5369383" cy="1002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Lateral Movement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7737671" y="993831"/>
              <a:ext cx="2436876" cy="2436876"/>
            </a:xfrm>
            <a:custGeom>
              <a:avLst/>
              <a:gdLst/>
              <a:ahLst/>
              <a:cxnLst/>
              <a:rect l="l" t="t" r="r" b="b"/>
              <a:pathLst>
                <a:path w="2436876" h="2436876">
                  <a:moveTo>
                    <a:pt x="0" y="0"/>
                  </a:moveTo>
                  <a:lnTo>
                    <a:pt x="2436875" y="0"/>
                  </a:lnTo>
                  <a:lnTo>
                    <a:pt x="2436875" y="2436876"/>
                  </a:lnTo>
                  <a:lnTo>
                    <a:pt x="0" y="243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71417" y="3076260"/>
              <a:ext cx="5369383" cy="1002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Higher Audit Effort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2109208" y="5788112"/>
            <a:ext cx="1866021" cy="1866021"/>
          </a:xfrm>
          <a:custGeom>
            <a:avLst/>
            <a:gdLst/>
            <a:ahLst/>
            <a:cxnLst/>
            <a:rect l="l" t="t" r="r" b="b"/>
            <a:pathLst>
              <a:path w="1866021" h="1866021">
                <a:moveTo>
                  <a:pt x="0" y="0"/>
                </a:moveTo>
                <a:lnTo>
                  <a:pt x="1866021" y="0"/>
                </a:lnTo>
                <a:lnTo>
                  <a:pt x="1866021" y="1866020"/>
                </a:lnTo>
                <a:lnTo>
                  <a:pt x="0" y="1866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4351079" y="3510686"/>
            <a:ext cx="3449457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0"/>
              </a:lnSpc>
            </a:pPr>
            <a:r>
              <a:rPr lang="en-US" sz="37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Security Impact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125460" y="3510686"/>
            <a:ext cx="3811461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0"/>
              </a:lnSpc>
            </a:pPr>
            <a:r>
              <a:rPr lang="en-US" sz="37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 Impact</a:t>
            </a:r>
          </a:p>
        </p:txBody>
      </p:sp>
      <p:sp>
        <p:nvSpPr>
          <p:cNvPr id="15" name="AutoShape 15"/>
          <p:cNvSpPr/>
          <p:nvPr/>
        </p:nvSpPr>
        <p:spPr>
          <a:xfrm flipV="1">
            <a:off x="3754998" y="4351418"/>
            <a:ext cx="596081" cy="1098116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6" name="AutoShape 16"/>
          <p:cNvSpPr/>
          <p:nvPr/>
        </p:nvSpPr>
        <p:spPr>
          <a:xfrm flipH="1" flipV="1">
            <a:off x="7783794" y="4360506"/>
            <a:ext cx="649543" cy="1016167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7" name="AutoShape 17"/>
          <p:cNvSpPr/>
          <p:nvPr/>
        </p:nvSpPr>
        <p:spPr>
          <a:xfrm flipH="1" flipV="1">
            <a:off x="12607284" y="4299838"/>
            <a:ext cx="1134801" cy="1149695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Box 18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2" name="AutoShape 32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3" name="AutoShape 33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4" name="AutoShape 34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5" name="AutoShape 35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6" name="AutoShape 36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7" name="AutoShape 37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8" name="Group 38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0" name="Freeform 40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1" name="TextBox 41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684174" y="303986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5196449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9231"/>
            <a:ext cx="3263379" cy="414985"/>
          </a:xfrm>
          <a:custGeom>
            <a:avLst/>
            <a:gdLst/>
            <a:ahLst/>
            <a:cxnLst/>
            <a:rect l="l" t="t" r="r" b="b"/>
            <a:pathLst>
              <a:path w="3263379" h="414985">
                <a:moveTo>
                  <a:pt x="0" y="0"/>
                </a:moveTo>
                <a:lnTo>
                  <a:pt x="3263379" y="0"/>
                </a:lnTo>
                <a:lnTo>
                  <a:pt x="3263379" y="414985"/>
                </a:lnTo>
                <a:lnTo>
                  <a:pt x="0" y="41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111369"/>
            <a:ext cx="5613931" cy="3902682"/>
            <a:chOff x="0" y="0"/>
            <a:chExt cx="1478566" cy="10278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78566" cy="1027867"/>
            </a:xfrm>
            <a:custGeom>
              <a:avLst/>
              <a:gdLst/>
              <a:ahLst/>
              <a:cxnLst/>
              <a:rect l="l" t="t" r="r" b="b"/>
              <a:pathLst>
                <a:path w="1478566" h="1027867">
                  <a:moveTo>
                    <a:pt x="70332" y="0"/>
                  </a:moveTo>
                  <a:lnTo>
                    <a:pt x="1408234" y="0"/>
                  </a:lnTo>
                  <a:cubicBezTo>
                    <a:pt x="1447078" y="0"/>
                    <a:pt x="1478566" y="31489"/>
                    <a:pt x="1478566" y="70332"/>
                  </a:cubicBezTo>
                  <a:lnTo>
                    <a:pt x="1478566" y="957535"/>
                  </a:lnTo>
                  <a:cubicBezTo>
                    <a:pt x="1478566" y="996378"/>
                    <a:pt x="1447078" y="1027867"/>
                    <a:pt x="1408234" y="1027867"/>
                  </a:cubicBezTo>
                  <a:lnTo>
                    <a:pt x="70332" y="1027867"/>
                  </a:lnTo>
                  <a:cubicBezTo>
                    <a:pt x="31489" y="1027867"/>
                    <a:pt x="0" y="996378"/>
                    <a:pt x="0" y="957535"/>
                  </a:cubicBezTo>
                  <a:lnTo>
                    <a:pt x="0" y="70332"/>
                  </a:lnTo>
                  <a:cubicBezTo>
                    <a:pt x="0" y="31489"/>
                    <a:pt x="31489" y="0"/>
                    <a:pt x="70332" y="0"/>
                  </a:cubicBezTo>
                  <a:close/>
                </a:path>
              </a:pathLst>
            </a:custGeom>
            <a:solidFill>
              <a:srgbClr val="0F2D52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478566" cy="1037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504611" y="4460091"/>
            <a:ext cx="2556222" cy="2556222"/>
          </a:xfrm>
          <a:custGeom>
            <a:avLst/>
            <a:gdLst/>
            <a:ahLst/>
            <a:cxnLst/>
            <a:rect l="l" t="t" r="r" b="b"/>
            <a:pathLst>
              <a:path w="2556222" h="2556222">
                <a:moveTo>
                  <a:pt x="0" y="0"/>
                </a:moveTo>
                <a:lnTo>
                  <a:pt x="2556222" y="0"/>
                </a:lnTo>
                <a:lnTo>
                  <a:pt x="2556222" y="2556222"/>
                </a:lnTo>
                <a:lnTo>
                  <a:pt x="0" y="25562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165881" y="7143773"/>
            <a:ext cx="5290833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Segment the Payment Path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210131" y="4111369"/>
            <a:ext cx="5618664" cy="3902682"/>
            <a:chOff x="0" y="0"/>
            <a:chExt cx="7491551" cy="520357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7491551" cy="5203576"/>
              <a:chOff x="0" y="0"/>
              <a:chExt cx="1479813" cy="102786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479813" cy="1027867"/>
              </a:xfrm>
              <a:custGeom>
                <a:avLst/>
                <a:gdLst/>
                <a:ahLst/>
                <a:cxnLst/>
                <a:rect l="l" t="t" r="r" b="b"/>
                <a:pathLst>
                  <a:path w="1479813" h="1027867">
                    <a:moveTo>
                      <a:pt x="70273" y="0"/>
                    </a:moveTo>
                    <a:lnTo>
                      <a:pt x="1409540" y="0"/>
                    </a:lnTo>
                    <a:cubicBezTo>
                      <a:pt x="1428177" y="0"/>
                      <a:pt x="1446052" y="7404"/>
                      <a:pt x="1459230" y="20582"/>
                    </a:cubicBezTo>
                    <a:cubicBezTo>
                      <a:pt x="1472409" y="33761"/>
                      <a:pt x="1479813" y="51635"/>
                      <a:pt x="1479813" y="70273"/>
                    </a:cubicBezTo>
                    <a:lnTo>
                      <a:pt x="1479813" y="957594"/>
                    </a:lnTo>
                    <a:cubicBezTo>
                      <a:pt x="1479813" y="976232"/>
                      <a:pt x="1472409" y="994106"/>
                      <a:pt x="1459230" y="1007284"/>
                    </a:cubicBezTo>
                    <a:cubicBezTo>
                      <a:pt x="1446052" y="1020463"/>
                      <a:pt x="1428177" y="1027867"/>
                      <a:pt x="1409540" y="1027867"/>
                    </a:cubicBezTo>
                    <a:lnTo>
                      <a:pt x="70273" y="1027867"/>
                    </a:lnTo>
                    <a:cubicBezTo>
                      <a:pt x="51635" y="1027867"/>
                      <a:pt x="33761" y="1020463"/>
                      <a:pt x="20582" y="1007284"/>
                    </a:cubicBezTo>
                    <a:cubicBezTo>
                      <a:pt x="7404" y="994106"/>
                      <a:pt x="0" y="976232"/>
                      <a:pt x="0" y="957594"/>
                    </a:cubicBezTo>
                    <a:lnTo>
                      <a:pt x="0" y="70273"/>
                    </a:lnTo>
                    <a:cubicBezTo>
                      <a:pt x="0" y="51635"/>
                      <a:pt x="7404" y="33761"/>
                      <a:pt x="20582" y="20582"/>
                    </a:cubicBezTo>
                    <a:cubicBezTo>
                      <a:pt x="33761" y="7404"/>
                      <a:pt x="51635" y="0"/>
                      <a:pt x="70273" y="0"/>
                    </a:cubicBezTo>
                    <a:close/>
                  </a:path>
                </a:pathLst>
              </a:custGeom>
              <a:solidFill>
                <a:srgbClr val="F88D2A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9525"/>
                <a:ext cx="1479813" cy="10373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1985314" y="464962"/>
              <a:ext cx="3520923" cy="3520923"/>
            </a:xfrm>
            <a:custGeom>
              <a:avLst/>
              <a:gdLst/>
              <a:ahLst/>
              <a:cxnLst/>
              <a:rect l="l" t="t" r="r" b="b"/>
              <a:pathLst>
                <a:path w="3520923" h="3520923">
                  <a:moveTo>
                    <a:pt x="0" y="0"/>
                  </a:moveTo>
                  <a:lnTo>
                    <a:pt x="3520923" y="0"/>
                  </a:lnTo>
                  <a:lnTo>
                    <a:pt x="3520923" y="3520923"/>
                  </a:lnTo>
                  <a:lnTo>
                    <a:pt x="0" y="352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2317" y="4052729"/>
              <a:ext cx="6046918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5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Protect Account Data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396294" y="4111369"/>
            <a:ext cx="3863006" cy="3902682"/>
            <a:chOff x="0" y="0"/>
            <a:chExt cx="5150675" cy="5203576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150675" cy="5203576"/>
              <a:chOff x="0" y="0"/>
              <a:chExt cx="1017417" cy="102786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17417" cy="1027867"/>
              </a:xfrm>
              <a:custGeom>
                <a:avLst/>
                <a:gdLst/>
                <a:ahLst/>
                <a:cxnLst/>
                <a:rect l="l" t="t" r="r" b="b"/>
                <a:pathLst>
                  <a:path w="1017417" h="1027867">
                    <a:moveTo>
                      <a:pt x="102210" y="0"/>
                    </a:moveTo>
                    <a:lnTo>
                      <a:pt x="915207" y="0"/>
                    </a:lnTo>
                    <a:cubicBezTo>
                      <a:pt x="971656" y="0"/>
                      <a:pt x="1017417" y="45761"/>
                      <a:pt x="1017417" y="102210"/>
                    </a:cubicBezTo>
                    <a:lnTo>
                      <a:pt x="1017417" y="925657"/>
                    </a:lnTo>
                    <a:cubicBezTo>
                      <a:pt x="1017417" y="982106"/>
                      <a:pt x="971656" y="1027867"/>
                      <a:pt x="915207" y="1027867"/>
                    </a:cubicBezTo>
                    <a:lnTo>
                      <a:pt x="102210" y="1027867"/>
                    </a:lnTo>
                    <a:cubicBezTo>
                      <a:pt x="45761" y="1027867"/>
                      <a:pt x="0" y="982106"/>
                      <a:pt x="0" y="925657"/>
                    </a:cubicBezTo>
                    <a:lnTo>
                      <a:pt x="0" y="102210"/>
                    </a:lnTo>
                    <a:cubicBezTo>
                      <a:pt x="0" y="45761"/>
                      <a:pt x="45761" y="0"/>
                      <a:pt x="102210" y="0"/>
                    </a:cubicBezTo>
                    <a:close/>
                  </a:path>
                </a:pathLst>
              </a:custGeom>
              <a:solidFill>
                <a:srgbClr val="0F2D52"/>
              </a:solidFill>
              <a:ln w="3810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017417" cy="103739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1343037" y="464962"/>
              <a:ext cx="2712921" cy="3113470"/>
            </a:xfrm>
            <a:custGeom>
              <a:avLst/>
              <a:gdLst/>
              <a:ahLst/>
              <a:cxnLst/>
              <a:rect l="l" t="t" r="r" b="b"/>
              <a:pathLst>
                <a:path w="2712921" h="3113470">
                  <a:moveTo>
                    <a:pt x="0" y="0"/>
                  </a:moveTo>
                  <a:lnTo>
                    <a:pt x="2712921" y="0"/>
                  </a:lnTo>
                  <a:lnTo>
                    <a:pt x="2712921" y="3113470"/>
                  </a:lnTo>
                  <a:lnTo>
                    <a:pt x="0" y="3113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76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3697129"/>
              <a:ext cx="5150675" cy="1450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500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Validate Control Effectiveness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7" name="AutoShape 37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8" name="AutoShape 38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9" name="AutoShape 39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0" name="AutoShape 40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1" name="AutoShape 41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2" name="AutoShape 42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43" name="Group 43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5" name="Freeform 45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6" name="TextBox 46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684174" y="303986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5196449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 of Projects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9231"/>
            <a:ext cx="4866656" cy="414985"/>
          </a:xfrm>
          <a:custGeom>
            <a:avLst/>
            <a:gdLst/>
            <a:ahLst/>
            <a:cxnLst/>
            <a:rect l="l" t="t" r="r" b="b"/>
            <a:pathLst>
              <a:path w="4866656" h="414985">
                <a:moveTo>
                  <a:pt x="0" y="0"/>
                </a:moveTo>
                <a:lnTo>
                  <a:pt x="4866656" y="0"/>
                </a:lnTo>
                <a:lnTo>
                  <a:pt x="4866656" y="414985"/>
                </a:lnTo>
                <a:lnTo>
                  <a:pt x="0" y="41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912079"/>
            <a:ext cx="15446258" cy="4766959"/>
            <a:chOff x="0" y="0"/>
            <a:chExt cx="20595010" cy="6355945"/>
          </a:xfrm>
        </p:grpSpPr>
        <p:grpSp>
          <p:nvGrpSpPr>
            <p:cNvPr id="7" name="Group 7"/>
            <p:cNvGrpSpPr/>
            <p:nvPr/>
          </p:nvGrpSpPr>
          <p:grpSpPr>
            <a:xfrm>
              <a:off x="13346299" y="0"/>
              <a:ext cx="7248711" cy="6355945"/>
              <a:chOff x="0" y="0"/>
              <a:chExt cx="1431844" cy="125549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31844" cy="1255495"/>
              </a:xfrm>
              <a:custGeom>
                <a:avLst/>
                <a:gdLst/>
                <a:ahLst/>
                <a:cxnLst/>
                <a:rect l="l" t="t" r="r" b="b"/>
                <a:pathLst>
                  <a:path w="1431844" h="1255495">
                    <a:moveTo>
                      <a:pt x="72627" y="0"/>
                    </a:moveTo>
                    <a:lnTo>
                      <a:pt x="1359217" y="0"/>
                    </a:lnTo>
                    <a:cubicBezTo>
                      <a:pt x="1399328" y="0"/>
                      <a:pt x="1431844" y="32516"/>
                      <a:pt x="1431844" y="72627"/>
                    </a:cubicBezTo>
                    <a:lnTo>
                      <a:pt x="1431844" y="1182869"/>
                    </a:lnTo>
                    <a:cubicBezTo>
                      <a:pt x="1431844" y="1222979"/>
                      <a:pt x="1399328" y="1255495"/>
                      <a:pt x="1359217" y="1255495"/>
                    </a:cubicBezTo>
                    <a:lnTo>
                      <a:pt x="72627" y="1255495"/>
                    </a:lnTo>
                    <a:cubicBezTo>
                      <a:pt x="32516" y="1255495"/>
                      <a:pt x="0" y="1222979"/>
                      <a:pt x="0" y="1182869"/>
                    </a:cubicBezTo>
                    <a:lnTo>
                      <a:pt x="0" y="72627"/>
                    </a:lnTo>
                    <a:cubicBezTo>
                      <a:pt x="0" y="32516"/>
                      <a:pt x="32516" y="0"/>
                      <a:pt x="72627" y="0"/>
                    </a:cubicBezTo>
                    <a:close/>
                  </a:path>
                </a:pathLst>
              </a:custGeom>
              <a:solidFill>
                <a:srgbClr val="0F2D52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1431844" cy="126502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3723033" y="24481"/>
              <a:ext cx="6545360" cy="58874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969"/>
                </a:lnSpc>
              </a:pPr>
              <a:r>
                <a:rPr lang="en-US" sz="3984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Exclude:</a:t>
              </a:r>
            </a:p>
            <a:p>
              <a:pPr marL="755651" lvl="1" indent="-377825" algn="l">
                <a:lnSpc>
                  <a:spcPts val="7000"/>
                </a:lnSpc>
                <a:buFont typeface="Arial"/>
                <a:buChar char="•"/>
              </a:pPr>
              <a:r>
                <a:rPr lang="en-US" sz="3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Live Card Data</a:t>
              </a:r>
            </a:p>
            <a:p>
              <a:pPr marL="755651" lvl="1" indent="-377825" algn="l">
                <a:lnSpc>
                  <a:spcPts val="7000"/>
                </a:lnSpc>
                <a:buFont typeface="Arial"/>
                <a:buChar char="•"/>
              </a:pPr>
              <a:r>
                <a:rPr lang="en-US" sz="3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Production Banking</a:t>
              </a:r>
            </a:p>
            <a:p>
              <a:pPr marL="755651" lvl="1" indent="-377825" algn="l">
                <a:lnSpc>
                  <a:spcPts val="7000"/>
                </a:lnSpc>
                <a:buFont typeface="Arial"/>
                <a:buChar char="•"/>
              </a:pPr>
              <a:r>
                <a:rPr lang="en-US" sz="3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Formal PCI DSS Certification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7582486">
              <a:off x="164050" y="1334416"/>
              <a:ext cx="690757" cy="756617"/>
            </a:xfrm>
            <a:custGeom>
              <a:avLst/>
              <a:gdLst/>
              <a:ahLst/>
              <a:cxnLst/>
              <a:rect l="l" t="t" r="r" b="b"/>
              <a:pathLst>
                <a:path w="690757" h="756617">
                  <a:moveTo>
                    <a:pt x="0" y="0"/>
                  </a:moveTo>
                  <a:lnTo>
                    <a:pt x="690757" y="0"/>
                  </a:lnTo>
                  <a:lnTo>
                    <a:pt x="690757" y="756617"/>
                  </a:lnTo>
                  <a:lnTo>
                    <a:pt x="0" y="75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67" r="-476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603" y="642742"/>
              <a:ext cx="11643675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4" lvl="1" indent="-377827" algn="l">
                <a:lnSpc>
                  <a:spcPts val="42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Docker-based PCI DSS Segmentation Lab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603" y="2074654"/>
              <a:ext cx="13189496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4" lvl="1" indent="-377827" algn="l">
                <a:lnSpc>
                  <a:spcPts val="42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Secured Transaction Path POS - CDE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603" y="3509754"/>
              <a:ext cx="13189496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4" lvl="1" indent="-377827" algn="l">
                <a:lnSpc>
                  <a:spcPts val="42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 Controls Aligned Security Controls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603" y="4944854"/>
              <a:ext cx="13189496" cy="7397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55654" lvl="1" indent="-377827" algn="l">
                <a:lnSpc>
                  <a:spcPts val="4200"/>
                </a:lnSpc>
                <a:buFont typeface="Arial"/>
                <a:buChar char="•"/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 its Effectiveness and Gather Evidence</a:t>
              </a:r>
            </a:p>
          </p:txBody>
        </p:sp>
        <p:sp>
          <p:nvSpPr>
            <p:cNvPr id="16" name="Freeform 16"/>
            <p:cNvSpPr/>
            <p:nvPr/>
          </p:nvSpPr>
          <p:spPr>
            <a:xfrm rot="7582486">
              <a:off x="164050" y="2799664"/>
              <a:ext cx="690757" cy="756617"/>
            </a:xfrm>
            <a:custGeom>
              <a:avLst/>
              <a:gdLst/>
              <a:ahLst/>
              <a:cxnLst/>
              <a:rect l="l" t="t" r="r" b="b"/>
              <a:pathLst>
                <a:path w="690757" h="756617">
                  <a:moveTo>
                    <a:pt x="0" y="0"/>
                  </a:moveTo>
                  <a:lnTo>
                    <a:pt x="690757" y="0"/>
                  </a:lnTo>
                  <a:lnTo>
                    <a:pt x="690757" y="756617"/>
                  </a:lnTo>
                  <a:lnTo>
                    <a:pt x="0" y="75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67" r="-4767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17"/>
            <p:cNvSpPr/>
            <p:nvPr/>
          </p:nvSpPr>
          <p:spPr>
            <a:xfrm rot="7582486">
              <a:off x="223016" y="4260794"/>
              <a:ext cx="690757" cy="756617"/>
            </a:xfrm>
            <a:custGeom>
              <a:avLst/>
              <a:gdLst/>
              <a:ahLst/>
              <a:cxnLst/>
              <a:rect l="l" t="t" r="r" b="b"/>
              <a:pathLst>
                <a:path w="690757" h="756617">
                  <a:moveTo>
                    <a:pt x="0" y="0"/>
                  </a:moveTo>
                  <a:lnTo>
                    <a:pt x="690757" y="0"/>
                  </a:lnTo>
                  <a:lnTo>
                    <a:pt x="690757" y="756617"/>
                  </a:lnTo>
                  <a:lnTo>
                    <a:pt x="0" y="756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767" r="-4767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2" name="AutoShape 32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3" name="AutoShape 33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4" name="AutoShape 34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5" name="AutoShape 35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6" name="AutoShape 36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7" name="AutoShape 37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8" name="Group 38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0" name="Freeform 40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1" name="TextBox 41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684174" y="303986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5196449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Planning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63241"/>
            <a:ext cx="4949323" cy="410975"/>
          </a:xfrm>
          <a:custGeom>
            <a:avLst/>
            <a:gdLst/>
            <a:ahLst/>
            <a:cxnLst/>
            <a:rect l="l" t="t" r="r" b="b"/>
            <a:pathLst>
              <a:path w="4949323" h="410975">
                <a:moveTo>
                  <a:pt x="0" y="0"/>
                </a:moveTo>
                <a:lnTo>
                  <a:pt x="4949323" y="0"/>
                </a:lnTo>
                <a:lnTo>
                  <a:pt x="4949323" y="410975"/>
                </a:lnTo>
                <a:lnTo>
                  <a:pt x="0" y="410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1028700" y="3529318"/>
            <a:ext cx="10155580" cy="5728982"/>
          </a:xfrm>
          <a:custGeom>
            <a:avLst/>
            <a:gdLst/>
            <a:ahLst/>
            <a:cxnLst/>
            <a:rect l="l" t="t" r="r" b="b"/>
            <a:pathLst>
              <a:path w="10155580" h="5728982">
                <a:moveTo>
                  <a:pt x="0" y="0"/>
                </a:moveTo>
                <a:lnTo>
                  <a:pt x="10155580" y="0"/>
                </a:lnTo>
                <a:lnTo>
                  <a:pt x="10155580" y="5728982"/>
                </a:lnTo>
                <a:lnTo>
                  <a:pt x="0" y="5728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1184280" y="3618860"/>
            <a:ext cx="6195238" cy="5254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Scope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and Data Flow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Segmented Deployment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Integration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Validation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Evidence and Reporting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AutoShape 22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3" name="AutoShape 23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4" name="AutoShape 24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5" name="AutoShape 25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6" name="AutoShape 26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7" name="AutoShape 27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8" name="Group 28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0" name="Freeform 30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1" name="TextBox 31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684174" y="303986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5196449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61002"/>
            <a:ext cx="5266211" cy="413214"/>
          </a:xfrm>
          <a:custGeom>
            <a:avLst/>
            <a:gdLst/>
            <a:ahLst/>
            <a:cxnLst/>
            <a:rect l="l" t="t" r="r" b="b"/>
            <a:pathLst>
              <a:path w="5266211" h="413214">
                <a:moveTo>
                  <a:pt x="0" y="0"/>
                </a:moveTo>
                <a:lnTo>
                  <a:pt x="5266211" y="0"/>
                </a:lnTo>
                <a:lnTo>
                  <a:pt x="5266211" y="413214"/>
                </a:lnTo>
                <a:lnTo>
                  <a:pt x="0" y="413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AutoShape 16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7" name="AutoShape 17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2" name="Group 22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5" name="Group 25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27" name="Object 27"/>
          <p:cNvGraphicFramePr/>
          <p:nvPr>
            <p:extLst>
              <p:ext uri="{D42A27DB-BD31-4B8C-83A1-F6EECF244321}">
                <p14:modId xmlns:p14="http://schemas.microsoft.com/office/powerpoint/2010/main" val="134142592"/>
              </p:ext>
            </p:extLst>
          </p:nvPr>
        </p:nvGraphicFramePr>
        <p:xfrm>
          <a:off x="470302" y="3057607"/>
          <a:ext cx="14516100" cy="9018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5443200" imgH="10744200" progId="Excel.Sheet.12">
                  <p:embed/>
                </p:oleObj>
              </mc:Choice>
              <mc:Fallback>
                <p:oleObj name="Worksheet" r:id="rId4" imgW="15443200" imgH="10744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0302" y="3057607"/>
                        <a:ext cx="14516100" cy="9018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8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61901" y="296304"/>
            <a:ext cx="25532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4501" y="2939034"/>
            <a:ext cx="6978998" cy="59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</a:pPr>
            <a:r>
              <a:rPr lang="en-US" sz="36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PCI DSS v4.0.1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77092" y="5241454"/>
            <a:ext cx="6195238" cy="2611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Controls Objectives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Principal Requirements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249 Detailed Requirements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5196449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61002"/>
            <a:ext cx="5266211" cy="413214"/>
          </a:xfrm>
          <a:custGeom>
            <a:avLst/>
            <a:gdLst/>
            <a:ahLst/>
            <a:cxnLst/>
            <a:rect l="l" t="t" r="r" b="b"/>
            <a:pathLst>
              <a:path w="5266211" h="413214">
                <a:moveTo>
                  <a:pt x="0" y="0"/>
                </a:moveTo>
                <a:lnTo>
                  <a:pt x="5266211" y="0"/>
                </a:lnTo>
                <a:lnTo>
                  <a:pt x="5266211" y="413214"/>
                </a:lnTo>
                <a:lnTo>
                  <a:pt x="0" y="4132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15569" y="3636264"/>
            <a:ext cx="7195867" cy="2122197"/>
            <a:chOff x="0" y="0"/>
            <a:chExt cx="1895208" cy="5589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95208" cy="558933"/>
            </a:xfrm>
            <a:custGeom>
              <a:avLst/>
              <a:gdLst/>
              <a:ahLst/>
              <a:cxnLst/>
              <a:rect l="l" t="t" r="r" b="b"/>
              <a:pathLst>
                <a:path w="1895208" h="558933">
                  <a:moveTo>
                    <a:pt x="0" y="0"/>
                  </a:moveTo>
                  <a:lnTo>
                    <a:pt x="1895208" y="0"/>
                  </a:lnTo>
                  <a:lnTo>
                    <a:pt x="1895208" y="558933"/>
                  </a:lnTo>
                  <a:lnTo>
                    <a:pt x="0" y="558933"/>
                  </a:lnTo>
                  <a:close/>
                </a:path>
              </a:pathLst>
            </a:custGeom>
            <a:solidFill>
              <a:srgbClr val="0F2D5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895208" cy="56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4003" y="3514675"/>
            <a:ext cx="6978998" cy="20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Network Segmentation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Isolates CDE reduce PCI DSS scope when properly enforced and tested.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76564" y="3636264"/>
            <a:ext cx="7195867" cy="2122197"/>
            <a:chOff x="0" y="0"/>
            <a:chExt cx="1895208" cy="5589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95208" cy="558933"/>
            </a:xfrm>
            <a:custGeom>
              <a:avLst/>
              <a:gdLst/>
              <a:ahLst/>
              <a:cxnLst/>
              <a:rect l="l" t="t" r="r" b="b"/>
              <a:pathLst>
                <a:path w="1895208" h="558933">
                  <a:moveTo>
                    <a:pt x="0" y="0"/>
                  </a:moveTo>
                  <a:lnTo>
                    <a:pt x="1895208" y="0"/>
                  </a:lnTo>
                  <a:lnTo>
                    <a:pt x="1895208" y="558933"/>
                  </a:lnTo>
                  <a:lnTo>
                    <a:pt x="0" y="558933"/>
                  </a:lnTo>
                  <a:close/>
                </a:path>
              </a:pathLst>
            </a:custGeom>
            <a:solidFill>
              <a:srgbClr val="F88D2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895208" cy="56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584999" y="3514675"/>
            <a:ext cx="6978998" cy="20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Least Privilege Connectivity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only approved traffic and denies all other connections by default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615569" y="6547043"/>
            <a:ext cx="7195867" cy="2122197"/>
            <a:chOff x="0" y="0"/>
            <a:chExt cx="1895208" cy="558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95208" cy="558933"/>
            </a:xfrm>
            <a:custGeom>
              <a:avLst/>
              <a:gdLst/>
              <a:ahLst/>
              <a:cxnLst/>
              <a:rect l="l" t="t" r="r" b="b"/>
              <a:pathLst>
                <a:path w="1895208" h="558933">
                  <a:moveTo>
                    <a:pt x="0" y="0"/>
                  </a:moveTo>
                  <a:lnTo>
                    <a:pt x="1895208" y="0"/>
                  </a:lnTo>
                  <a:lnTo>
                    <a:pt x="1895208" y="558933"/>
                  </a:lnTo>
                  <a:lnTo>
                    <a:pt x="0" y="558933"/>
                  </a:lnTo>
                  <a:close/>
                </a:path>
              </a:pathLst>
            </a:custGeom>
            <a:solidFill>
              <a:srgbClr val="F88D2A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895208" cy="56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24003" y="6425454"/>
            <a:ext cx="6978998" cy="20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Protection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Protects PAN with encryption, tokenization and prevent CVV storage.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76564" y="6547043"/>
            <a:ext cx="7195867" cy="2122197"/>
            <a:chOff x="0" y="0"/>
            <a:chExt cx="1895208" cy="5589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95208" cy="558933"/>
            </a:xfrm>
            <a:custGeom>
              <a:avLst/>
              <a:gdLst/>
              <a:ahLst/>
              <a:cxnLst/>
              <a:rect l="l" t="t" r="r" b="b"/>
              <a:pathLst>
                <a:path w="1895208" h="558933">
                  <a:moveTo>
                    <a:pt x="0" y="0"/>
                  </a:moveTo>
                  <a:lnTo>
                    <a:pt x="1895208" y="0"/>
                  </a:lnTo>
                  <a:lnTo>
                    <a:pt x="1895208" y="558933"/>
                  </a:lnTo>
                  <a:lnTo>
                    <a:pt x="0" y="558933"/>
                  </a:lnTo>
                  <a:close/>
                </a:path>
              </a:pathLst>
            </a:custGeom>
            <a:solidFill>
              <a:srgbClr val="0F2D5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895208" cy="568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584999" y="6425454"/>
            <a:ext cx="6978998" cy="207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Control Validation</a:t>
            </a:r>
          </a:p>
          <a:p>
            <a:pPr algn="l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logs, vulnerability scans, and segmentation tests to verify controls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92952" y="9086850"/>
            <a:ext cx="15702095" cy="473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Sources: PCI SSC (2017, 2024) • Mhaskar et al. (2021) • Wang and Rey (2026)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6" name="AutoShape 36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7" name="AutoShape 37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8" name="AutoShape 38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9" name="AutoShape 39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0" name="AutoShape 40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1" name="AutoShape 41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42" name="Group 42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4" name="Freeform 44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5" name="TextBox 45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61901" y="296304"/>
            <a:ext cx="25532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4453731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Technology Used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678233"/>
            <a:ext cx="4993500" cy="454604"/>
          </a:xfrm>
          <a:custGeom>
            <a:avLst/>
            <a:gdLst/>
            <a:ahLst/>
            <a:cxnLst/>
            <a:rect l="l" t="t" r="r" b="b"/>
            <a:pathLst>
              <a:path w="4993500" h="454604">
                <a:moveTo>
                  <a:pt x="0" y="0"/>
                </a:moveTo>
                <a:lnTo>
                  <a:pt x="4993500" y="0"/>
                </a:lnTo>
                <a:lnTo>
                  <a:pt x="4993500" y="454604"/>
                </a:lnTo>
                <a:lnTo>
                  <a:pt x="0" y="4546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AutoShape 17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3" name="Group 23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" name="Freeform 25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6" name="Group 26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34429" y="3332862"/>
            <a:ext cx="15019142" cy="2527622"/>
            <a:chOff x="0" y="0"/>
            <a:chExt cx="20025523" cy="3370163"/>
          </a:xfrm>
        </p:grpSpPr>
        <p:sp>
          <p:nvSpPr>
            <p:cNvPr id="29" name="Freeform 29"/>
            <p:cNvSpPr/>
            <p:nvPr/>
          </p:nvSpPr>
          <p:spPr>
            <a:xfrm>
              <a:off x="6875326" y="493876"/>
              <a:ext cx="5060835" cy="1589353"/>
            </a:xfrm>
            <a:custGeom>
              <a:avLst/>
              <a:gdLst/>
              <a:ahLst/>
              <a:cxnLst/>
              <a:rect l="l" t="t" r="r" b="b"/>
              <a:pathLst>
                <a:path w="5060835" h="1589353">
                  <a:moveTo>
                    <a:pt x="0" y="0"/>
                  </a:moveTo>
                  <a:lnTo>
                    <a:pt x="5060835" y="0"/>
                  </a:lnTo>
                  <a:lnTo>
                    <a:pt x="5060835" y="1589353"/>
                  </a:lnTo>
                  <a:lnTo>
                    <a:pt x="0" y="1589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71" t="-36551" r="-3657" b="-3464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493876"/>
              <a:ext cx="5813860" cy="1322653"/>
            </a:xfrm>
            <a:custGeom>
              <a:avLst/>
              <a:gdLst/>
              <a:ahLst/>
              <a:cxnLst/>
              <a:rect l="l" t="t" r="r" b="b"/>
              <a:pathLst>
                <a:path w="5813860" h="1322653">
                  <a:moveTo>
                    <a:pt x="0" y="0"/>
                  </a:moveTo>
                  <a:lnTo>
                    <a:pt x="5813860" y="0"/>
                  </a:lnTo>
                  <a:lnTo>
                    <a:pt x="5813860" y="1322653"/>
                  </a:lnTo>
                  <a:lnTo>
                    <a:pt x="0" y="1322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3002961" y="0"/>
              <a:ext cx="2601510" cy="2083229"/>
            </a:xfrm>
            <a:custGeom>
              <a:avLst/>
              <a:gdLst/>
              <a:ahLst/>
              <a:cxnLst/>
              <a:rect l="l" t="t" r="r" b="b"/>
              <a:pathLst>
                <a:path w="2601510" h="2083229">
                  <a:moveTo>
                    <a:pt x="0" y="0"/>
                  </a:moveTo>
                  <a:lnTo>
                    <a:pt x="2601510" y="0"/>
                  </a:lnTo>
                  <a:lnTo>
                    <a:pt x="2601510" y="2083229"/>
                  </a:lnTo>
                  <a:lnTo>
                    <a:pt x="0" y="2083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546" t="-31740" r="-39819" b="-1744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6998400" y="0"/>
              <a:ext cx="2626163" cy="2083229"/>
            </a:xfrm>
            <a:custGeom>
              <a:avLst/>
              <a:gdLst/>
              <a:ahLst/>
              <a:cxnLst/>
              <a:rect l="l" t="t" r="r" b="b"/>
              <a:pathLst>
                <a:path w="2626163" h="2083229">
                  <a:moveTo>
                    <a:pt x="0" y="0"/>
                  </a:moveTo>
                  <a:lnTo>
                    <a:pt x="2626163" y="0"/>
                  </a:lnTo>
                  <a:lnTo>
                    <a:pt x="2626163" y="2083229"/>
                  </a:lnTo>
                  <a:lnTo>
                    <a:pt x="0" y="2083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3240" b="-12822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0576" y="1787954"/>
              <a:ext cx="3572709" cy="1002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Orchestration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19389" y="1787954"/>
              <a:ext cx="3572709" cy="1002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Retail VPN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2675832" y="2121329"/>
              <a:ext cx="3255768" cy="1248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Firewall Enforcement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769755" y="2121329"/>
              <a:ext cx="3255768" cy="1248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Reverse Proxy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91770" y="6087082"/>
            <a:ext cx="17104459" cy="2342663"/>
            <a:chOff x="0" y="0"/>
            <a:chExt cx="22805946" cy="3123550"/>
          </a:xfrm>
        </p:grpSpPr>
        <p:sp>
          <p:nvSpPr>
            <p:cNvPr id="44" name="Freeform 44"/>
            <p:cNvSpPr/>
            <p:nvPr/>
          </p:nvSpPr>
          <p:spPr>
            <a:xfrm>
              <a:off x="0" y="247263"/>
              <a:ext cx="4406256" cy="1589353"/>
            </a:xfrm>
            <a:custGeom>
              <a:avLst/>
              <a:gdLst/>
              <a:ahLst/>
              <a:cxnLst/>
              <a:rect l="l" t="t" r="r" b="b"/>
              <a:pathLst>
                <a:path w="4406256" h="1589353">
                  <a:moveTo>
                    <a:pt x="0" y="0"/>
                  </a:moveTo>
                  <a:lnTo>
                    <a:pt x="4406256" y="0"/>
                  </a:lnTo>
                  <a:lnTo>
                    <a:pt x="4406256" y="1589353"/>
                  </a:lnTo>
                  <a:lnTo>
                    <a:pt x="0" y="1589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4870418" y="247263"/>
              <a:ext cx="4166683" cy="1589353"/>
            </a:xfrm>
            <a:custGeom>
              <a:avLst/>
              <a:gdLst/>
              <a:ahLst/>
              <a:cxnLst/>
              <a:rect l="l" t="t" r="r" b="b"/>
              <a:pathLst>
                <a:path w="4166683" h="1589353">
                  <a:moveTo>
                    <a:pt x="0" y="0"/>
                  </a:moveTo>
                  <a:lnTo>
                    <a:pt x="4166683" y="0"/>
                  </a:lnTo>
                  <a:lnTo>
                    <a:pt x="4166683" y="1589353"/>
                  </a:lnTo>
                  <a:lnTo>
                    <a:pt x="0" y="1589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1680" t="-89923" r="-20987" b="-90809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9507001" y="949405"/>
              <a:ext cx="5409350" cy="827945"/>
            </a:xfrm>
            <a:custGeom>
              <a:avLst/>
              <a:gdLst/>
              <a:ahLst/>
              <a:cxnLst/>
              <a:rect l="l" t="t" r="r" b="b"/>
              <a:pathLst>
                <a:path w="5409350" h="827945">
                  <a:moveTo>
                    <a:pt x="0" y="0"/>
                  </a:moveTo>
                  <a:lnTo>
                    <a:pt x="5409350" y="0"/>
                  </a:lnTo>
                  <a:lnTo>
                    <a:pt x="5409350" y="827944"/>
                  </a:lnTo>
                  <a:lnTo>
                    <a:pt x="0" y="827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106" t="-158701" b="-154156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15386251" y="580202"/>
              <a:ext cx="3694027" cy="1225894"/>
            </a:xfrm>
            <a:custGeom>
              <a:avLst/>
              <a:gdLst/>
              <a:ahLst/>
              <a:cxnLst/>
              <a:rect l="l" t="t" r="r" b="b"/>
              <a:pathLst>
                <a:path w="3694027" h="1225894">
                  <a:moveTo>
                    <a:pt x="0" y="0"/>
                  </a:moveTo>
                  <a:lnTo>
                    <a:pt x="3694027" y="0"/>
                  </a:lnTo>
                  <a:lnTo>
                    <a:pt x="3694027" y="1225894"/>
                  </a:lnTo>
                  <a:lnTo>
                    <a:pt x="0" y="1225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7138" t="-152309" r="-14033" b="-14295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8" name="Freeform 48"/>
            <p:cNvSpPr/>
            <p:nvPr/>
          </p:nvSpPr>
          <p:spPr>
            <a:xfrm>
              <a:off x="19993479" y="0"/>
              <a:ext cx="2369165" cy="1926403"/>
            </a:xfrm>
            <a:custGeom>
              <a:avLst/>
              <a:gdLst/>
              <a:ahLst/>
              <a:cxnLst/>
              <a:rect l="l" t="t" r="r" b="b"/>
              <a:pathLst>
                <a:path w="2369165" h="1926403">
                  <a:moveTo>
                    <a:pt x="0" y="0"/>
                  </a:moveTo>
                  <a:lnTo>
                    <a:pt x="2369165" y="0"/>
                  </a:lnTo>
                  <a:lnTo>
                    <a:pt x="2369165" y="1926403"/>
                  </a:lnTo>
                  <a:lnTo>
                    <a:pt x="0" y="1926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16773" y="1874716"/>
              <a:ext cx="3572709" cy="1248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Payment Processing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06962" y="1874716"/>
              <a:ext cx="3572709" cy="1248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Cryptographic Services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83792" y="1815449"/>
              <a:ext cx="3255768" cy="664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Database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5605380" y="1844196"/>
              <a:ext cx="3255768" cy="1248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Centralized Logging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550178" y="1874716"/>
              <a:ext cx="3255768" cy="1248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Anti</a:t>
              </a:r>
            </a:p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Malware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17948" y="1334614"/>
            <a:ext cx="11626600" cy="8978436"/>
            <a:chOff x="0" y="0"/>
            <a:chExt cx="15502134" cy="11971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502134" cy="11971249"/>
            </a:xfrm>
            <a:custGeom>
              <a:avLst/>
              <a:gdLst/>
              <a:ahLst/>
              <a:cxnLst/>
              <a:rect l="l" t="t" r="r" b="b"/>
              <a:pathLst>
                <a:path w="15502134" h="11971249">
                  <a:moveTo>
                    <a:pt x="0" y="0"/>
                  </a:moveTo>
                  <a:lnTo>
                    <a:pt x="15502134" y="0"/>
                  </a:lnTo>
                  <a:lnTo>
                    <a:pt x="15502134" y="11971249"/>
                  </a:lnTo>
                  <a:lnTo>
                    <a:pt x="0" y="11971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2472324" y="9492124"/>
              <a:ext cx="1476229" cy="463609"/>
            </a:xfrm>
            <a:custGeom>
              <a:avLst/>
              <a:gdLst/>
              <a:ahLst/>
              <a:cxnLst/>
              <a:rect l="l" t="t" r="r" b="b"/>
              <a:pathLst>
                <a:path w="1476229" h="463609">
                  <a:moveTo>
                    <a:pt x="0" y="0"/>
                  </a:moveTo>
                  <a:lnTo>
                    <a:pt x="1476230" y="0"/>
                  </a:lnTo>
                  <a:lnTo>
                    <a:pt x="1476230" y="463610"/>
                  </a:lnTo>
                  <a:lnTo>
                    <a:pt x="0" y="463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71" t="-36551" r="-3657" b="-3464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2624949" y="5017489"/>
              <a:ext cx="1470138" cy="461696"/>
            </a:xfrm>
            <a:custGeom>
              <a:avLst/>
              <a:gdLst/>
              <a:ahLst/>
              <a:cxnLst/>
              <a:rect l="l" t="t" r="r" b="b"/>
              <a:pathLst>
                <a:path w="1470138" h="461696">
                  <a:moveTo>
                    <a:pt x="0" y="0"/>
                  </a:moveTo>
                  <a:lnTo>
                    <a:pt x="1470139" y="0"/>
                  </a:lnTo>
                  <a:lnTo>
                    <a:pt x="1470139" y="461696"/>
                  </a:lnTo>
                  <a:lnTo>
                    <a:pt x="0" y="461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871" t="-36551" r="-3657" b="-3464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6284467" y="655912"/>
              <a:ext cx="1012585" cy="336035"/>
            </a:xfrm>
            <a:custGeom>
              <a:avLst/>
              <a:gdLst/>
              <a:ahLst/>
              <a:cxnLst/>
              <a:rect l="l" t="t" r="r" b="b"/>
              <a:pathLst>
                <a:path w="1012585" h="336035">
                  <a:moveTo>
                    <a:pt x="0" y="0"/>
                  </a:moveTo>
                  <a:lnTo>
                    <a:pt x="1012585" y="0"/>
                  </a:lnTo>
                  <a:lnTo>
                    <a:pt x="1012585" y="336035"/>
                  </a:lnTo>
                  <a:lnTo>
                    <a:pt x="0" y="336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138" t="-152309" r="-14033" b="-142955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5792637" y="9372442"/>
              <a:ext cx="864545" cy="702974"/>
            </a:xfrm>
            <a:custGeom>
              <a:avLst/>
              <a:gdLst/>
              <a:ahLst/>
              <a:cxnLst/>
              <a:rect l="l" t="t" r="r" b="b"/>
              <a:pathLst>
                <a:path w="864545" h="702974">
                  <a:moveTo>
                    <a:pt x="0" y="0"/>
                  </a:moveTo>
                  <a:lnTo>
                    <a:pt x="864544" y="0"/>
                  </a:lnTo>
                  <a:lnTo>
                    <a:pt x="864544" y="702974"/>
                  </a:lnTo>
                  <a:lnTo>
                    <a:pt x="0" y="702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11932735" y="1346963"/>
              <a:ext cx="871348" cy="708506"/>
            </a:xfrm>
            <a:custGeom>
              <a:avLst/>
              <a:gdLst/>
              <a:ahLst/>
              <a:cxnLst/>
              <a:rect l="l" t="t" r="r" b="b"/>
              <a:pathLst>
                <a:path w="871348" h="708506">
                  <a:moveTo>
                    <a:pt x="0" y="0"/>
                  </a:moveTo>
                  <a:lnTo>
                    <a:pt x="871347" y="0"/>
                  </a:lnTo>
                  <a:lnTo>
                    <a:pt x="871347" y="708506"/>
                  </a:lnTo>
                  <a:lnTo>
                    <a:pt x="0" y="708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Freeform 9"/>
            <p:cNvSpPr/>
            <p:nvPr/>
          </p:nvSpPr>
          <p:spPr>
            <a:xfrm>
              <a:off x="5684495" y="3762906"/>
              <a:ext cx="871348" cy="708506"/>
            </a:xfrm>
            <a:custGeom>
              <a:avLst/>
              <a:gdLst/>
              <a:ahLst/>
              <a:cxnLst/>
              <a:rect l="l" t="t" r="r" b="b"/>
              <a:pathLst>
                <a:path w="871348" h="708506">
                  <a:moveTo>
                    <a:pt x="0" y="0"/>
                  </a:moveTo>
                  <a:lnTo>
                    <a:pt x="871348" y="0"/>
                  </a:lnTo>
                  <a:lnTo>
                    <a:pt x="871348" y="708506"/>
                  </a:lnTo>
                  <a:lnTo>
                    <a:pt x="0" y="708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801243" y="2324510"/>
            <a:ext cx="2302351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Diagram</a:t>
            </a:r>
          </a:p>
        </p:txBody>
      </p:sp>
      <p:sp>
        <p:nvSpPr>
          <p:cNvPr id="13" name="Freeform 13"/>
          <p:cNvSpPr/>
          <p:nvPr/>
        </p:nvSpPr>
        <p:spPr>
          <a:xfrm>
            <a:off x="640899" y="3000785"/>
            <a:ext cx="2735622" cy="214651"/>
          </a:xfrm>
          <a:custGeom>
            <a:avLst/>
            <a:gdLst/>
            <a:ahLst/>
            <a:cxnLst/>
            <a:rect l="l" t="t" r="r" b="b"/>
            <a:pathLst>
              <a:path w="2735622" h="214651">
                <a:moveTo>
                  <a:pt x="0" y="0"/>
                </a:moveTo>
                <a:lnTo>
                  <a:pt x="2735622" y="0"/>
                </a:lnTo>
                <a:lnTo>
                  <a:pt x="2735622" y="214650"/>
                </a:lnTo>
                <a:lnTo>
                  <a:pt x="0" y="214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1581236" y="4614158"/>
            <a:ext cx="2679531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Diagram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9" name="AutoShape 29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0" name="AutoShape 30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1" name="AutoShape 31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2" name="AutoShape 32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3" name="AutoShape 33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4" name="AutoShape 34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5" name="Group 35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7" name="Freeform 37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8" name="TextBox 38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01243" y="2324510"/>
            <a:ext cx="3979862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Approved Path</a:t>
            </a:r>
          </a:p>
        </p:txBody>
      </p:sp>
      <p:sp>
        <p:nvSpPr>
          <p:cNvPr id="5" name="Freeform 5"/>
          <p:cNvSpPr/>
          <p:nvPr/>
        </p:nvSpPr>
        <p:spPr>
          <a:xfrm>
            <a:off x="640899" y="2903273"/>
            <a:ext cx="4427743" cy="347423"/>
          </a:xfrm>
          <a:custGeom>
            <a:avLst/>
            <a:gdLst/>
            <a:ahLst/>
            <a:cxnLst/>
            <a:rect l="l" t="t" r="r" b="b"/>
            <a:pathLst>
              <a:path w="4427743" h="347423">
                <a:moveTo>
                  <a:pt x="0" y="0"/>
                </a:moveTo>
                <a:lnTo>
                  <a:pt x="4427743" y="0"/>
                </a:lnTo>
                <a:lnTo>
                  <a:pt x="4427743" y="347423"/>
                </a:lnTo>
                <a:lnTo>
                  <a:pt x="0" y="347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2492331" y="4529825"/>
            <a:ext cx="14067149" cy="4708719"/>
          </a:xfrm>
          <a:custGeom>
            <a:avLst/>
            <a:gdLst/>
            <a:ahLst/>
            <a:cxnLst/>
            <a:rect l="l" t="t" r="r" b="b"/>
            <a:pathLst>
              <a:path w="14067149" h="4708719">
                <a:moveTo>
                  <a:pt x="0" y="0"/>
                </a:moveTo>
                <a:lnTo>
                  <a:pt x="14067148" y="0"/>
                </a:lnTo>
                <a:lnTo>
                  <a:pt x="14067148" y="4708719"/>
                </a:lnTo>
                <a:lnTo>
                  <a:pt x="0" y="4708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37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3771782" y="3674713"/>
            <a:ext cx="10744435" cy="488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Which Made Outside of Define Path Be Denied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AutoShape 22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3" name="AutoShape 23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4" name="AutoShape 24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5" name="AutoShape 25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6" name="AutoShape 26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7" name="AutoShape 27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8" name="Group 28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0" name="Freeform 30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1" name="TextBox 31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2" y="2172110"/>
            <a:ext cx="4380357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675214"/>
            <a:ext cx="4667839" cy="403490"/>
          </a:xfrm>
          <a:custGeom>
            <a:avLst/>
            <a:gdLst/>
            <a:ahLst/>
            <a:cxnLst/>
            <a:rect l="l" t="t" r="r" b="b"/>
            <a:pathLst>
              <a:path w="4667839" h="403490">
                <a:moveTo>
                  <a:pt x="0" y="0"/>
                </a:moveTo>
                <a:lnTo>
                  <a:pt x="4667839" y="0"/>
                </a:lnTo>
                <a:lnTo>
                  <a:pt x="4667839" y="403491"/>
                </a:lnTo>
                <a:lnTo>
                  <a:pt x="0" y="403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18164" y="5416784"/>
            <a:ext cx="1350118" cy="1571046"/>
            <a:chOff x="0" y="0"/>
            <a:chExt cx="6985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27914"/>
              <a:ext cx="698500" cy="756971"/>
            </a:xfrm>
            <a:custGeom>
              <a:avLst/>
              <a:gdLst/>
              <a:ahLst/>
              <a:cxnLst/>
              <a:rect l="l" t="t" r="r" b="b"/>
              <a:pathLst>
                <a:path w="698500" h="756971">
                  <a:moveTo>
                    <a:pt x="438697" y="24128"/>
                  </a:moveTo>
                  <a:lnTo>
                    <a:pt x="609053" y="123244"/>
                  </a:lnTo>
                  <a:cubicBezTo>
                    <a:pt x="664431" y="155464"/>
                    <a:pt x="698500" y="214701"/>
                    <a:pt x="698500" y="278771"/>
                  </a:cubicBezTo>
                  <a:lnTo>
                    <a:pt x="698500" y="478201"/>
                  </a:lnTo>
                  <a:cubicBezTo>
                    <a:pt x="698500" y="542271"/>
                    <a:pt x="664431" y="601508"/>
                    <a:pt x="609053" y="633728"/>
                  </a:cubicBezTo>
                  <a:lnTo>
                    <a:pt x="438697" y="732844"/>
                  </a:lnTo>
                  <a:cubicBezTo>
                    <a:pt x="383405" y="765014"/>
                    <a:pt x="315095" y="765014"/>
                    <a:pt x="259803" y="732844"/>
                  </a:cubicBezTo>
                  <a:lnTo>
                    <a:pt x="89447" y="633728"/>
                  </a:lnTo>
                  <a:cubicBezTo>
                    <a:pt x="34069" y="601508"/>
                    <a:pt x="0" y="542271"/>
                    <a:pt x="0" y="478201"/>
                  </a:cubicBezTo>
                  <a:lnTo>
                    <a:pt x="0" y="278771"/>
                  </a:lnTo>
                  <a:cubicBezTo>
                    <a:pt x="0" y="214701"/>
                    <a:pt x="34069" y="155464"/>
                    <a:pt x="89447" y="123244"/>
                  </a:cubicBezTo>
                  <a:lnTo>
                    <a:pt x="259803" y="24128"/>
                  </a:lnTo>
                  <a:cubicBezTo>
                    <a:pt x="315095" y="-8042"/>
                    <a:pt x="383405" y="-8042"/>
                    <a:pt x="438697" y="24128"/>
                  </a:cubicBezTo>
                  <a:close/>
                </a:path>
              </a:pathLst>
            </a:custGeom>
            <a:solidFill>
              <a:srgbClr val="F88D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07739" y="5416784"/>
            <a:ext cx="1350118" cy="1571046"/>
            <a:chOff x="0" y="0"/>
            <a:chExt cx="6985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27914"/>
              <a:ext cx="698500" cy="756971"/>
            </a:xfrm>
            <a:custGeom>
              <a:avLst/>
              <a:gdLst/>
              <a:ahLst/>
              <a:cxnLst/>
              <a:rect l="l" t="t" r="r" b="b"/>
              <a:pathLst>
                <a:path w="698500" h="756971">
                  <a:moveTo>
                    <a:pt x="438697" y="24128"/>
                  </a:moveTo>
                  <a:lnTo>
                    <a:pt x="609053" y="123244"/>
                  </a:lnTo>
                  <a:cubicBezTo>
                    <a:pt x="664431" y="155464"/>
                    <a:pt x="698500" y="214701"/>
                    <a:pt x="698500" y="278771"/>
                  </a:cubicBezTo>
                  <a:lnTo>
                    <a:pt x="698500" y="478201"/>
                  </a:lnTo>
                  <a:cubicBezTo>
                    <a:pt x="698500" y="542271"/>
                    <a:pt x="664431" y="601508"/>
                    <a:pt x="609053" y="633728"/>
                  </a:cubicBezTo>
                  <a:lnTo>
                    <a:pt x="438697" y="732844"/>
                  </a:lnTo>
                  <a:cubicBezTo>
                    <a:pt x="383405" y="765014"/>
                    <a:pt x="315095" y="765014"/>
                    <a:pt x="259803" y="732844"/>
                  </a:cubicBezTo>
                  <a:lnTo>
                    <a:pt x="89447" y="633728"/>
                  </a:lnTo>
                  <a:cubicBezTo>
                    <a:pt x="34069" y="601508"/>
                    <a:pt x="0" y="542271"/>
                    <a:pt x="0" y="478201"/>
                  </a:cubicBezTo>
                  <a:lnTo>
                    <a:pt x="0" y="278771"/>
                  </a:lnTo>
                  <a:cubicBezTo>
                    <a:pt x="0" y="214701"/>
                    <a:pt x="34069" y="155464"/>
                    <a:pt x="89447" y="123244"/>
                  </a:cubicBezTo>
                  <a:lnTo>
                    <a:pt x="259803" y="24128"/>
                  </a:lnTo>
                  <a:cubicBezTo>
                    <a:pt x="315095" y="-8042"/>
                    <a:pt x="383405" y="-8042"/>
                    <a:pt x="438697" y="24128"/>
                  </a:cubicBezTo>
                  <a:close/>
                </a:path>
              </a:pathLst>
            </a:custGeom>
            <a:solidFill>
              <a:srgbClr val="0F2D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81954" y="5008240"/>
            <a:ext cx="15824779" cy="2481619"/>
          </a:xfrm>
          <a:custGeom>
            <a:avLst/>
            <a:gdLst/>
            <a:ahLst/>
            <a:cxnLst/>
            <a:rect l="l" t="t" r="r" b="b"/>
            <a:pathLst>
              <a:path w="15824779" h="2481619">
                <a:moveTo>
                  <a:pt x="436210" y="1194067"/>
                </a:moveTo>
                <a:lnTo>
                  <a:pt x="218105" y="1194067"/>
                </a:lnTo>
                <a:cubicBezTo>
                  <a:pt x="160260" y="1194067"/>
                  <a:pt x="104784" y="1171089"/>
                  <a:pt x="63881" y="1130186"/>
                </a:cubicBezTo>
                <a:cubicBezTo>
                  <a:pt x="22979" y="1089284"/>
                  <a:pt x="0" y="1033807"/>
                  <a:pt x="0" y="975963"/>
                </a:cubicBezTo>
                <a:lnTo>
                  <a:pt x="0" y="597034"/>
                </a:lnTo>
                <a:cubicBezTo>
                  <a:pt x="0" y="438690"/>
                  <a:pt x="62901" y="286833"/>
                  <a:pt x="174867" y="174867"/>
                </a:cubicBezTo>
                <a:cubicBezTo>
                  <a:pt x="286833" y="62901"/>
                  <a:pt x="438690" y="0"/>
                  <a:pt x="597034" y="0"/>
                </a:cubicBezTo>
                <a:lnTo>
                  <a:pt x="1608296" y="0"/>
                </a:lnTo>
                <a:cubicBezTo>
                  <a:pt x="1860915" y="0"/>
                  <a:pt x="2103187" y="100352"/>
                  <a:pt x="2281815" y="278980"/>
                </a:cubicBezTo>
                <a:cubicBezTo>
                  <a:pt x="2460444" y="457609"/>
                  <a:pt x="2560796" y="699881"/>
                  <a:pt x="2560796" y="952500"/>
                </a:cubicBezTo>
                <a:lnTo>
                  <a:pt x="2560796" y="1529119"/>
                </a:lnTo>
                <a:cubicBezTo>
                  <a:pt x="2560796" y="1781738"/>
                  <a:pt x="2661148" y="2024010"/>
                  <a:pt x="2839777" y="2202638"/>
                </a:cubicBezTo>
                <a:cubicBezTo>
                  <a:pt x="3018405" y="2381267"/>
                  <a:pt x="3260677" y="2481619"/>
                  <a:pt x="3513296" y="2481619"/>
                </a:cubicBezTo>
                <a:lnTo>
                  <a:pt x="4160378" y="2481619"/>
                </a:lnTo>
                <a:cubicBezTo>
                  <a:pt x="4686429" y="2481619"/>
                  <a:pt x="5112878" y="2055171"/>
                  <a:pt x="5112878" y="1529119"/>
                </a:cubicBezTo>
                <a:lnTo>
                  <a:pt x="5112878" y="952500"/>
                </a:lnTo>
                <a:cubicBezTo>
                  <a:pt x="5112878" y="426448"/>
                  <a:pt x="5539327" y="0"/>
                  <a:pt x="6065378" y="0"/>
                </a:cubicBezTo>
                <a:lnTo>
                  <a:pt x="6833124" y="0"/>
                </a:lnTo>
                <a:cubicBezTo>
                  <a:pt x="7085743" y="0"/>
                  <a:pt x="7328015" y="100352"/>
                  <a:pt x="7506644" y="278980"/>
                </a:cubicBezTo>
                <a:cubicBezTo>
                  <a:pt x="7685272" y="457609"/>
                  <a:pt x="7785624" y="699881"/>
                  <a:pt x="7785624" y="952500"/>
                </a:cubicBezTo>
                <a:lnTo>
                  <a:pt x="7785624" y="1529119"/>
                </a:lnTo>
                <a:cubicBezTo>
                  <a:pt x="7785624" y="1781738"/>
                  <a:pt x="7885976" y="2024010"/>
                  <a:pt x="8064605" y="2202638"/>
                </a:cubicBezTo>
                <a:cubicBezTo>
                  <a:pt x="8243234" y="2381267"/>
                  <a:pt x="8485506" y="2481619"/>
                  <a:pt x="8738124" y="2481619"/>
                </a:cubicBezTo>
                <a:lnTo>
                  <a:pt x="9580095" y="2481619"/>
                </a:lnTo>
                <a:cubicBezTo>
                  <a:pt x="9832713" y="2481619"/>
                  <a:pt x="10074985" y="2381267"/>
                  <a:pt x="10253614" y="2202638"/>
                </a:cubicBezTo>
                <a:cubicBezTo>
                  <a:pt x="10432243" y="2024010"/>
                  <a:pt x="10532595" y="1781738"/>
                  <a:pt x="10532595" y="1529119"/>
                </a:cubicBezTo>
                <a:lnTo>
                  <a:pt x="10532595" y="952500"/>
                </a:lnTo>
                <a:cubicBezTo>
                  <a:pt x="10532595" y="699881"/>
                  <a:pt x="10632947" y="457609"/>
                  <a:pt x="10811575" y="278980"/>
                </a:cubicBezTo>
                <a:cubicBezTo>
                  <a:pt x="10990204" y="100352"/>
                  <a:pt x="11232476" y="0"/>
                  <a:pt x="11485095" y="0"/>
                </a:cubicBezTo>
                <a:lnTo>
                  <a:pt x="12063231" y="0"/>
                </a:lnTo>
                <a:cubicBezTo>
                  <a:pt x="12589283" y="0"/>
                  <a:pt x="13015731" y="426448"/>
                  <a:pt x="13015731" y="952500"/>
                </a:cubicBezTo>
                <a:lnTo>
                  <a:pt x="13015731" y="1529119"/>
                </a:lnTo>
                <a:cubicBezTo>
                  <a:pt x="13015731" y="2055171"/>
                  <a:pt x="13442180" y="2481619"/>
                  <a:pt x="13968231" y="2481619"/>
                </a:cubicBezTo>
                <a:lnTo>
                  <a:pt x="15181002" y="2481619"/>
                </a:lnTo>
                <a:cubicBezTo>
                  <a:pt x="15351742" y="2481619"/>
                  <a:pt x="15515489" y="2413793"/>
                  <a:pt x="15636221" y="2293062"/>
                </a:cubicBezTo>
                <a:cubicBezTo>
                  <a:pt x="15756953" y="2172330"/>
                  <a:pt x="15824779" y="2008584"/>
                  <a:pt x="15824779" y="1837844"/>
                </a:cubicBezTo>
                <a:lnTo>
                  <a:pt x="15824779" y="1489355"/>
                </a:lnTo>
                <a:cubicBezTo>
                  <a:pt x="15824779" y="1411040"/>
                  <a:pt x="15793667" y="1335932"/>
                  <a:pt x="15738291" y="1280555"/>
                </a:cubicBezTo>
                <a:cubicBezTo>
                  <a:pt x="15682914" y="1225178"/>
                  <a:pt x="15607806" y="1194067"/>
                  <a:pt x="15529491" y="1194067"/>
                </a:cubicBezTo>
                <a:lnTo>
                  <a:pt x="15234204" y="1194067"/>
                </a:lnTo>
              </a:path>
            </a:pathLst>
          </a:custGeom>
          <a:ln w="85725" cap="rnd">
            <a:solidFill>
              <a:srgbClr val="CED5E6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7097314" y="5416784"/>
            <a:ext cx="1350118" cy="1571046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27914"/>
              <a:ext cx="698500" cy="756971"/>
            </a:xfrm>
            <a:custGeom>
              <a:avLst/>
              <a:gdLst/>
              <a:ahLst/>
              <a:cxnLst/>
              <a:rect l="l" t="t" r="r" b="b"/>
              <a:pathLst>
                <a:path w="698500" h="756971">
                  <a:moveTo>
                    <a:pt x="438697" y="24128"/>
                  </a:moveTo>
                  <a:lnTo>
                    <a:pt x="609053" y="123244"/>
                  </a:lnTo>
                  <a:cubicBezTo>
                    <a:pt x="664431" y="155464"/>
                    <a:pt x="698500" y="214701"/>
                    <a:pt x="698500" y="278771"/>
                  </a:cubicBezTo>
                  <a:lnTo>
                    <a:pt x="698500" y="478201"/>
                  </a:lnTo>
                  <a:cubicBezTo>
                    <a:pt x="698500" y="542271"/>
                    <a:pt x="664431" y="601508"/>
                    <a:pt x="609053" y="633728"/>
                  </a:cubicBezTo>
                  <a:lnTo>
                    <a:pt x="438697" y="732844"/>
                  </a:lnTo>
                  <a:cubicBezTo>
                    <a:pt x="383405" y="765014"/>
                    <a:pt x="315095" y="765014"/>
                    <a:pt x="259803" y="732844"/>
                  </a:cubicBezTo>
                  <a:lnTo>
                    <a:pt x="89447" y="633728"/>
                  </a:lnTo>
                  <a:cubicBezTo>
                    <a:pt x="34069" y="601508"/>
                    <a:pt x="0" y="542271"/>
                    <a:pt x="0" y="478201"/>
                  </a:cubicBezTo>
                  <a:lnTo>
                    <a:pt x="0" y="278771"/>
                  </a:lnTo>
                  <a:cubicBezTo>
                    <a:pt x="0" y="214701"/>
                    <a:pt x="34069" y="155464"/>
                    <a:pt x="89447" y="123244"/>
                  </a:cubicBezTo>
                  <a:lnTo>
                    <a:pt x="259803" y="24128"/>
                  </a:lnTo>
                  <a:cubicBezTo>
                    <a:pt x="315095" y="-8042"/>
                    <a:pt x="383405" y="-8042"/>
                    <a:pt x="438697" y="24128"/>
                  </a:cubicBezTo>
                  <a:close/>
                </a:path>
              </a:pathLst>
            </a:custGeom>
            <a:solidFill>
              <a:srgbClr val="F88D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86889" y="5416784"/>
            <a:ext cx="1350118" cy="1571046"/>
            <a:chOff x="0" y="0"/>
            <a:chExt cx="6985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27914"/>
              <a:ext cx="698500" cy="756971"/>
            </a:xfrm>
            <a:custGeom>
              <a:avLst/>
              <a:gdLst/>
              <a:ahLst/>
              <a:cxnLst/>
              <a:rect l="l" t="t" r="r" b="b"/>
              <a:pathLst>
                <a:path w="698500" h="756971">
                  <a:moveTo>
                    <a:pt x="438697" y="24128"/>
                  </a:moveTo>
                  <a:lnTo>
                    <a:pt x="609053" y="123244"/>
                  </a:lnTo>
                  <a:cubicBezTo>
                    <a:pt x="664431" y="155464"/>
                    <a:pt x="698500" y="214701"/>
                    <a:pt x="698500" y="278771"/>
                  </a:cubicBezTo>
                  <a:lnTo>
                    <a:pt x="698500" y="478201"/>
                  </a:lnTo>
                  <a:cubicBezTo>
                    <a:pt x="698500" y="542271"/>
                    <a:pt x="664431" y="601508"/>
                    <a:pt x="609053" y="633728"/>
                  </a:cubicBezTo>
                  <a:lnTo>
                    <a:pt x="438697" y="732844"/>
                  </a:lnTo>
                  <a:cubicBezTo>
                    <a:pt x="383405" y="765014"/>
                    <a:pt x="315095" y="765014"/>
                    <a:pt x="259803" y="732844"/>
                  </a:cubicBezTo>
                  <a:lnTo>
                    <a:pt x="89447" y="633728"/>
                  </a:lnTo>
                  <a:cubicBezTo>
                    <a:pt x="34069" y="601508"/>
                    <a:pt x="0" y="542271"/>
                    <a:pt x="0" y="478201"/>
                  </a:cubicBezTo>
                  <a:lnTo>
                    <a:pt x="0" y="278771"/>
                  </a:lnTo>
                  <a:cubicBezTo>
                    <a:pt x="0" y="214701"/>
                    <a:pt x="34069" y="155464"/>
                    <a:pt x="89447" y="123244"/>
                  </a:cubicBezTo>
                  <a:lnTo>
                    <a:pt x="259803" y="24128"/>
                  </a:lnTo>
                  <a:cubicBezTo>
                    <a:pt x="315095" y="-8042"/>
                    <a:pt x="383405" y="-8042"/>
                    <a:pt x="438697" y="24128"/>
                  </a:cubicBezTo>
                  <a:close/>
                </a:path>
              </a:pathLst>
            </a:custGeom>
            <a:solidFill>
              <a:srgbClr val="0F2D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473975" y="5416784"/>
            <a:ext cx="1350118" cy="1571046"/>
            <a:chOff x="0" y="0"/>
            <a:chExt cx="6985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27914"/>
              <a:ext cx="698500" cy="756971"/>
            </a:xfrm>
            <a:custGeom>
              <a:avLst/>
              <a:gdLst/>
              <a:ahLst/>
              <a:cxnLst/>
              <a:rect l="l" t="t" r="r" b="b"/>
              <a:pathLst>
                <a:path w="698500" h="756971">
                  <a:moveTo>
                    <a:pt x="438697" y="24128"/>
                  </a:moveTo>
                  <a:lnTo>
                    <a:pt x="609053" y="123244"/>
                  </a:lnTo>
                  <a:cubicBezTo>
                    <a:pt x="664431" y="155464"/>
                    <a:pt x="698500" y="214701"/>
                    <a:pt x="698500" y="278771"/>
                  </a:cubicBezTo>
                  <a:lnTo>
                    <a:pt x="698500" y="478201"/>
                  </a:lnTo>
                  <a:cubicBezTo>
                    <a:pt x="698500" y="542271"/>
                    <a:pt x="664431" y="601508"/>
                    <a:pt x="609053" y="633728"/>
                  </a:cubicBezTo>
                  <a:lnTo>
                    <a:pt x="438697" y="732844"/>
                  </a:lnTo>
                  <a:cubicBezTo>
                    <a:pt x="383405" y="765014"/>
                    <a:pt x="315095" y="765014"/>
                    <a:pt x="259803" y="732844"/>
                  </a:cubicBezTo>
                  <a:lnTo>
                    <a:pt x="89447" y="633728"/>
                  </a:lnTo>
                  <a:cubicBezTo>
                    <a:pt x="34069" y="601508"/>
                    <a:pt x="0" y="542271"/>
                    <a:pt x="0" y="478201"/>
                  </a:cubicBezTo>
                  <a:lnTo>
                    <a:pt x="0" y="278771"/>
                  </a:lnTo>
                  <a:cubicBezTo>
                    <a:pt x="0" y="214701"/>
                    <a:pt x="34069" y="155464"/>
                    <a:pt x="89447" y="123244"/>
                  </a:cubicBezTo>
                  <a:lnTo>
                    <a:pt x="259803" y="24128"/>
                  </a:lnTo>
                  <a:cubicBezTo>
                    <a:pt x="315095" y="-8042"/>
                    <a:pt x="383405" y="-8042"/>
                    <a:pt x="438697" y="24128"/>
                  </a:cubicBezTo>
                  <a:close/>
                </a:path>
              </a:pathLst>
            </a:custGeom>
            <a:solidFill>
              <a:srgbClr val="F88D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166039" y="5416784"/>
            <a:ext cx="1350118" cy="1571046"/>
            <a:chOff x="0" y="0"/>
            <a:chExt cx="6985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27914"/>
              <a:ext cx="698500" cy="756971"/>
            </a:xfrm>
            <a:custGeom>
              <a:avLst/>
              <a:gdLst/>
              <a:ahLst/>
              <a:cxnLst/>
              <a:rect l="l" t="t" r="r" b="b"/>
              <a:pathLst>
                <a:path w="698500" h="756971">
                  <a:moveTo>
                    <a:pt x="438697" y="24128"/>
                  </a:moveTo>
                  <a:lnTo>
                    <a:pt x="609053" y="123244"/>
                  </a:lnTo>
                  <a:cubicBezTo>
                    <a:pt x="664431" y="155464"/>
                    <a:pt x="698500" y="214701"/>
                    <a:pt x="698500" y="278771"/>
                  </a:cubicBezTo>
                  <a:lnTo>
                    <a:pt x="698500" y="478201"/>
                  </a:lnTo>
                  <a:cubicBezTo>
                    <a:pt x="698500" y="542271"/>
                    <a:pt x="664431" y="601508"/>
                    <a:pt x="609053" y="633728"/>
                  </a:cubicBezTo>
                  <a:lnTo>
                    <a:pt x="438697" y="732844"/>
                  </a:lnTo>
                  <a:cubicBezTo>
                    <a:pt x="383405" y="765014"/>
                    <a:pt x="315095" y="765014"/>
                    <a:pt x="259803" y="732844"/>
                  </a:cubicBezTo>
                  <a:lnTo>
                    <a:pt x="89447" y="633728"/>
                  </a:lnTo>
                  <a:cubicBezTo>
                    <a:pt x="34069" y="601508"/>
                    <a:pt x="0" y="542271"/>
                    <a:pt x="0" y="478201"/>
                  </a:cubicBezTo>
                  <a:lnTo>
                    <a:pt x="0" y="278771"/>
                  </a:lnTo>
                  <a:cubicBezTo>
                    <a:pt x="0" y="214701"/>
                    <a:pt x="34069" y="155464"/>
                    <a:pt x="89447" y="123244"/>
                  </a:cubicBezTo>
                  <a:lnTo>
                    <a:pt x="259803" y="24128"/>
                  </a:lnTo>
                  <a:cubicBezTo>
                    <a:pt x="315095" y="-8042"/>
                    <a:pt x="383405" y="-8042"/>
                    <a:pt x="438697" y="24128"/>
                  </a:cubicBezTo>
                  <a:close/>
                </a:path>
              </a:pathLst>
            </a:custGeom>
            <a:solidFill>
              <a:srgbClr val="0F2D5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82550"/>
              <a:ext cx="6985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79"/>
                </a:lnSpc>
              </a:pPr>
              <a:r>
                <a:rPr lang="en-US" sz="21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6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013470" y="3916697"/>
            <a:ext cx="4138655" cy="76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072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Transaction Flow </a:t>
            </a:r>
          </a:p>
          <a:p>
            <a:pPr marL="518160" lvl="1" indent="-259080" algn="l">
              <a:lnSpc>
                <a:spcPts val="3072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Document Communication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28372" y="3535697"/>
            <a:ext cx="3867151" cy="1147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072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Segment Security Zones </a:t>
            </a:r>
          </a:p>
          <a:p>
            <a:pPr marL="518160" lvl="1" indent="-259080" algn="l">
              <a:lnSpc>
                <a:spcPts val="3072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Enforce Secure Access </a:t>
            </a:r>
          </a:p>
          <a:p>
            <a:pPr marL="518160" lvl="1" indent="-259080" algn="l">
              <a:lnSpc>
                <a:spcPts val="3072"/>
              </a:lnSpc>
              <a:buFont typeface="Arial"/>
              <a:buChar char="•"/>
            </a:pPr>
            <a:r>
              <a:rPr lang="en-US" sz="24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Supporting Controls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54977" y="7289815"/>
            <a:ext cx="1634792" cy="76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</a:pPr>
            <a:r>
              <a:rPr lang="en-US" sz="2400" b="1">
                <a:solidFill>
                  <a:srgbClr val="E9713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Build Core System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4247" y="7289815"/>
            <a:ext cx="2197952" cy="1147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</a:pPr>
            <a:r>
              <a:rPr lang="en-US" sz="2400" b="1">
                <a:solidFill>
                  <a:srgbClr val="E9713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Analyze Requirements and Scope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873545" y="7289815"/>
            <a:ext cx="2550976" cy="76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2400" b="1">
                <a:solidFill>
                  <a:srgbClr val="D1541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Vali</a:t>
            </a:r>
            <a:r>
              <a:rPr lang="en-US" sz="2400" b="1" u="none" strike="noStrike">
                <a:solidFill>
                  <a:srgbClr val="D1541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 Effectiveness 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586281" y="3916697"/>
            <a:ext cx="2509636" cy="766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2"/>
              </a:lnSpc>
              <a:spcBef>
                <a:spcPct val="0"/>
              </a:spcBef>
            </a:pPr>
            <a:r>
              <a:rPr lang="en-US" sz="24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Gather Evidence To Backup Claims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14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5" name="AutoShape 45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6" name="AutoShape 46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7" name="AutoShape 47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8" name="AutoShape 48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" name="AutoShape 49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" name="AutoShape 50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1" name="Group 51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3" name="Freeform 53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4" name="TextBox 54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6659137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Results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9231"/>
            <a:ext cx="2466184" cy="414985"/>
          </a:xfrm>
          <a:custGeom>
            <a:avLst/>
            <a:gdLst/>
            <a:ahLst/>
            <a:cxnLst/>
            <a:rect l="l" t="t" r="r" b="b"/>
            <a:pathLst>
              <a:path w="2466184" h="414985">
                <a:moveTo>
                  <a:pt x="0" y="0"/>
                </a:moveTo>
                <a:lnTo>
                  <a:pt x="2466185" y="0"/>
                </a:lnTo>
                <a:lnTo>
                  <a:pt x="2466185" y="414985"/>
                </a:lnTo>
                <a:lnTo>
                  <a:pt x="0" y="41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AutoShape 17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3" name="Group 23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" name="Freeform 25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6" name="Group 26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8" name="Freeform 28"/>
          <p:cNvSpPr/>
          <p:nvPr/>
        </p:nvSpPr>
        <p:spPr>
          <a:xfrm>
            <a:off x="9359041" y="2402901"/>
            <a:ext cx="4166702" cy="3961979"/>
          </a:xfrm>
          <a:custGeom>
            <a:avLst/>
            <a:gdLst/>
            <a:ahLst/>
            <a:cxnLst/>
            <a:rect l="l" t="t" r="r" b="b"/>
            <a:pathLst>
              <a:path w="4166702" h="3961979">
                <a:moveTo>
                  <a:pt x="0" y="0"/>
                </a:moveTo>
                <a:lnTo>
                  <a:pt x="4166702" y="0"/>
                </a:lnTo>
                <a:lnTo>
                  <a:pt x="4166702" y="3961979"/>
                </a:lnTo>
                <a:lnTo>
                  <a:pt x="0" y="3961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/>
          <p:nvPr/>
        </p:nvSpPr>
        <p:spPr>
          <a:xfrm>
            <a:off x="12806865" y="6050555"/>
            <a:ext cx="3516556" cy="3546484"/>
          </a:xfrm>
          <a:custGeom>
            <a:avLst/>
            <a:gdLst/>
            <a:ahLst/>
            <a:cxnLst/>
            <a:rect l="l" t="t" r="r" b="b"/>
            <a:pathLst>
              <a:path w="3516556" h="3546484">
                <a:moveTo>
                  <a:pt x="0" y="0"/>
                </a:moveTo>
                <a:lnTo>
                  <a:pt x="3516556" y="0"/>
                </a:lnTo>
                <a:lnTo>
                  <a:pt x="3516556" y="3546484"/>
                </a:lnTo>
                <a:lnTo>
                  <a:pt x="0" y="35464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0" name="TextBox 30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700" y="4088616"/>
            <a:ext cx="8581078" cy="3482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Secured Transaction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Activities are Logged as Artifacts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Defined Zone based on Security Level</a:t>
            </a:r>
          </a:p>
          <a:p>
            <a:pPr marL="755654" lvl="1" indent="-377827" algn="l">
              <a:lnSpc>
                <a:spcPts val="70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Comply with 78 selected sub-requirements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2" y="2172110"/>
            <a:ext cx="2340101" cy="70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 dirty="0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9231"/>
            <a:ext cx="2466184" cy="414985"/>
          </a:xfrm>
          <a:custGeom>
            <a:avLst/>
            <a:gdLst/>
            <a:ahLst/>
            <a:cxnLst/>
            <a:rect l="l" t="t" r="r" b="b"/>
            <a:pathLst>
              <a:path w="2466184" h="414985">
                <a:moveTo>
                  <a:pt x="0" y="0"/>
                </a:moveTo>
                <a:lnTo>
                  <a:pt x="2466185" y="0"/>
                </a:lnTo>
                <a:lnTo>
                  <a:pt x="2466185" y="414985"/>
                </a:lnTo>
                <a:lnTo>
                  <a:pt x="0" y="41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028700" y="3374241"/>
            <a:ext cx="16230600" cy="6816852"/>
          </a:xfrm>
          <a:custGeom>
            <a:avLst/>
            <a:gdLst/>
            <a:ahLst/>
            <a:cxnLst/>
            <a:rect l="l" t="t" r="r" b="b"/>
            <a:pathLst>
              <a:path w="16230600" h="6816852">
                <a:moveTo>
                  <a:pt x="0" y="0"/>
                </a:moveTo>
                <a:lnTo>
                  <a:pt x="16230600" y="0"/>
                </a:lnTo>
                <a:lnTo>
                  <a:pt x="16230600" y="6816852"/>
                </a:lnTo>
                <a:lnTo>
                  <a:pt x="0" y="68168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043285" y="2943635"/>
            <a:ext cx="10201429" cy="30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Masking and Encryption with Tokenization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16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AutoShape 22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3" name="AutoShape 23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4" name="AutoShape 24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5" name="AutoShape 25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6" name="AutoShape 26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7" name="AutoShape 27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8" name="Group 28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0" name="Freeform 30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1" name="TextBox 31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6659137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9221"/>
            <a:ext cx="3350314" cy="414985"/>
          </a:xfrm>
          <a:custGeom>
            <a:avLst/>
            <a:gdLst/>
            <a:ahLst/>
            <a:cxnLst/>
            <a:rect l="l" t="t" r="r" b="b"/>
            <a:pathLst>
              <a:path w="3350314" h="414985">
                <a:moveTo>
                  <a:pt x="0" y="0"/>
                </a:moveTo>
                <a:lnTo>
                  <a:pt x="3350314" y="0"/>
                </a:lnTo>
                <a:lnTo>
                  <a:pt x="3350314" y="414985"/>
                </a:lnTo>
                <a:lnTo>
                  <a:pt x="0" y="41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13441" y="3583703"/>
            <a:ext cx="14861118" cy="5611505"/>
            <a:chOff x="0" y="0"/>
            <a:chExt cx="19814824" cy="748200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8458568" cy="3654161"/>
              <a:chOff x="0" y="0"/>
              <a:chExt cx="1670828" cy="72181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670828" cy="721810"/>
              </a:xfrm>
              <a:custGeom>
                <a:avLst/>
                <a:gdLst/>
                <a:ahLst/>
                <a:cxnLst/>
                <a:rect l="l" t="t" r="r" b="b"/>
                <a:pathLst>
                  <a:path w="1670828" h="721810">
                    <a:moveTo>
                      <a:pt x="62239" y="0"/>
                    </a:moveTo>
                    <a:lnTo>
                      <a:pt x="1608590" y="0"/>
                    </a:lnTo>
                    <a:cubicBezTo>
                      <a:pt x="1625096" y="0"/>
                      <a:pt x="1640927" y="6557"/>
                      <a:pt x="1652599" y="18229"/>
                    </a:cubicBezTo>
                    <a:cubicBezTo>
                      <a:pt x="1664271" y="29901"/>
                      <a:pt x="1670828" y="45732"/>
                      <a:pt x="1670828" y="62239"/>
                    </a:cubicBezTo>
                    <a:lnTo>
                      <a:pt x="1670828" y="659571"/>
                    </a:lnTo>
                    <a:cubicBezTo>
                      <a:pt x="1670828" y="693944"/>
                      <a:pt x="1642963" y="721810"/>
                      <a:pt x="1608590" y="721810"/>
                    </a:cubicBezTo>
                    <a:lnTo>
                      <a:pt x="62239" y="721810"/>
                    </a:lnTo>
                    <a:cubicBezTo>
                      <a:pt x="45732" y="721810"/>
                      <a:pt x="29901" y="715252"/>
                      <a:pt x="18229" y="703580"/>
                    </a:cubicBezTo>
                    <a:cubicBezTo>
                      <a:pt x="6557" y="691908"/>
                      <a:pt x="0" y="676078"/>
                      <a:pt x="0" y="659571"/>
                    </a:cubicBezTo>
                    <a:lnTo>
                      <a:pt x="0" y="62239"/>
                    </a:lnTo>
                    <a:cubicBezTo>
                      <a:pt x="0" y="45732"/>
                      <a:pt x="6557" y="29901"/>
                      <a:pt x="18229" y="18229"/>
                    </a:cubicBezTo>
                    <a:cubicBezTo>
                      <a:pt x="29901" y="6557"/>
                      <a:pt x="45732" y="0"/>
                      <a:pt x="62239" y="0"/>
                    </a:cubicBezTo>
                    <a:close/>
                  </a:path>
                </a:pathLst>
              </a:custGeom>
              <a:solidFill>
                <a:srgbClr val="0F2D52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1670828" cy="7313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299584" y="319423"/>
              <a:ext cx="7999914" cy="2162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Maintaining consistency between implementation, documentation, and evidence.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853473" y="0"/>
              <a:ext cx="8961352" cy="3654161"/>
              <a:chOff x="0" y="0"/>
              <a:chExt cx="1770144" cy="72181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770144" cy="721810"/>
              </a:xfrm>
              <a:custGeom>
                <a:avLst/>
                <a:gdLst/>
                <a:ahLst/>
                <a:cxnLst/>
                <a:rect l="l" t="t" r="r" b="b"/>
                <a:pathLst>
                  <a:path w="1770144" h="721810">
                    <a:moveTo>
                      <a:pt x="58747" y="0"/>
                    </a:moveTo>
                    <a:lnTo>
                      <a:pt x="1711397" y="0"/>
                    </a:lnTo>
                    <a:cubicBezTo>
                      <a:pt x="1743842" y="0"/>
                      <a:pt x="1770144" y="26302"/>
                      <a:pt x="1770144" y="58747"/>
                    </a:cubicBezTo>
                    <a:lnTo>
                      <a:pt x="1770144" y="663063"/>
                    </a:lnTo>
                    <a:cubicBezTo>
                      <a:pt x="1770144" y="678643"/>
                      <a:pt x="1763954" y="693586"/>
                      <a:pt x="1752937" y="704603"/>
                    </a:cubicBezTo>
                    <a:cubicBezTo>
                      <a:pt x="1741920" y="715620"/>
                      <a:pt x="1726977" y="721810"/>
                      <a:pt x="1711397" y="721810"/>
                    </a:cubicBezTo>
                    <a:lnTo>
                      <a:pt x="58747" y="721810"/>
                    </a:lnTo>
                    <a:cubicBezTo>
                      <a:pt x="43166" y="721810"/>
                      <a:pt x="28224" y="715620"/>
                      <a:pt x="17207" y="704603"/>
                    </a:cubicBezTo>
                    <a:cubicBezTo>
                      <a:pt x="6189" y="693586"/>
                      <a:pt x="0" y="678643"/>
                      <a:pt x="0" y="663063"/>
                    </a:cubicBezTo>
                    <a:lnTo>
                      <a:pt x="0" y="58747"/>
                    </a:lnTo>
                    <a:cubicBezTo>
                      <a:pt x="0" y="43166"/>
                      <a:pt x="6189" y="28224"/>
                      <a:pt x="17207" y="17207"/>
                    </a:cubicBezTo>
                    <a:cubicBezTo>
                      <a:pt x="28224" y="6189"/>
                      <a:pt x="43166" y="0"/>
                      <a:pt x="58747" y="0"/>
                    </a:cubicBezTo>
                    <a:close/>
                  </a:path>
                </a:pathLst>
              </a:custGeom>
              <a:solidFill>
                <a:srgbClr val="0F2D52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1770144" cy="7313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1119984" y="319423"/>
              <a:ext cx="8504015" cy="1450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Allowing required services without weakening CDE segmentation.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0853473" y="4250675"/>
              <a:ext cx="8961352" cy="3192846"/>
              <a:chOff x="0" y="0"/>
              <a:chExt cx="1770144" cy="63068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770144" cy="630686"/>
              </a:xfrm>
              <a:custGeom>
                <a:avLst/>
                <a:gdLst/>
                <a:ahLst/>
                <a:cxnLst/>
                <a:rect l="l" t="t" r="r" b="b"/>
                <a:pathLst>
                  <a:path w="1770144" h="630686">
                    <a:moveTo>
                      <a:pt x="58747" y="0"/>
                    </a:moveTo>
                    <a:lnTo>
                      <a:pt x="1711397" y="0"/>
                    </a:lnTo>
                    <a:cubicBezTo>
                      <a:pt x="1743842" y="0"/>
                      <a:pt x="1770144" y="26302"/>
                      <a:pt x="1770144" y="58747"/>
                    </a:cubicBezTo>
                    <a:lnTo>
                      <a:pt x="1770144" y="571939"/>
                    </a:lnTo>
                    <a:cubicBezTo>
                      <a:pt x="1770144" y="587519"/>
                      <a:pt x="1763954" y="602462"/>
                      <a:pt x="1752937" y="613479"/>
                    </a:cubicBezTo>
                    <a:cubicBezTo>
                      <a:pt x="1741920" y="624496"/>
                      <a:pt x="1726977" y="630686"/>
                      <a:pt x="1711397" y="630686"/>
                    </a:cubicBezTo>
                    <a:lnTo>
                      <a:pt x="58747" y="630686"/>
                    </a:lnTo>
                    <a:cubicBezTo>
                      <a:pt x="43166" y="630686"/>
                      <a:pt x="28224" y="624496"/>
                      <a:pt x="17207" y="613479"/>
                    </a:cubicBezTo>
                    <a:cubicBezTo>
                      <a:pt x="6189" y="602462"/>
                      <a:pt x="0" y="587519"/>
                      <a:pt x="0" y="571939"/>
                    </a:cubicBezTo>
                    <a:lnTo>
                      <a:pt x="0" y="58747"/>
                    </a:lnTo>
                    <a:cubicBezTo>
                      <a:pt x="0" y="43166"/>
                      <a:pt x="6189" y="28224"/>
                      <a:pt x="17207" y="17207"/>
                    </a:cubicBezTo>
                    <a:cubicBezTo>
                      <a:pt x="28224" y="6189"/>
                      <a:pt x="43166" y="0"/>
                      <a:pt x="58747" y="0"/>
                    </a:cubicBezTo>
                    <a:close/>
                  </a:path>
                </a:pathLst>
              </a:custGeom>
              <a:solidFill>
                <a:srgbClr val="F88D2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-9525"/>
                <a:ext cx="1770144" cy="640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4289161"/>
              <a:ext cx="8458568" cy="3192846"/>
              <a:chOff x="0" y="0"/>
              <a:chExt cx="1670828" cy="630686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670828" cy="630686"/>
              </a:xfrm>
              <a:custGeom>
                <a:avLst/>
                <a:gdLst/>
                <a:ahLst/>
                <a:cxnLst/>
                <a:rect l="l" t="t" r="r" b="b"/>
                <a:pathLst>
                  <a:path w="1670828" h="630686">
                    <a:moveTo>
                      <a:pt x="62239" y="0"/>
                    </a:moveTo>
                    <a:lnTo>
                      <a:pt x="1608590" y="0"/>
                    </a:lnTo>
                    <a:cubicBezTo>
                      <a:pt x="1625096" y="0"/>
                      <a:pt x="1640927" y="6557"/>
                      <a:pt x="1652599" y="18229"/>
                    </a:cubicBezTo>
                    <a:cubicBezTo>
                      <a:pt x="1664271" y="29901"/>
                      <a:pt x="1670828" y="45732"/>
                      <a:pt x="1670828" y="62239"/>
                    </a:cubicBezTo>
                    <a:lnTo>
                      <a:pt x="1670828" y="568447"/>
                    </a:lnTo>
                    <a:cubicBezTo>
                      <a:pt x="1670828" y="584954"/>
                      <a:pt x="1664271" y="600784"/>
                      <a:pt x="1652599" y="612456"/>
                    </a:cubicBezTo>
                    <a:cubicBezTo>
                      <a:pt x="1640927" y="624128"/>
                      <a:pt x="1625096" y="630686"/>
                      <a:pt x="1608590" y="630686"/>
                    </a:cubicBezTo>
                    <a:lnTo>
                      <a:pt x="62239" y="630686"/>
                    </a:lnTo>
                    <a:cubicBezTo>
                      <a:pt x="45732" y="630686"/>
                      <a:pt x="29901" y="624128"/>
                      <a:pt x="18229" y="612456"/>
                    </a:cubicBezTo>
                    <a:cubicBezTo>
                      <a:pt x="6557" y="600784"/>
                      <a:pt x="0" y="584954"/>
                      <a:pt x="0" y="568447"/>
                    </a:cubicBezTo>
                    <a:lnTo>
                      <a:pt x="0" y="62239"/>
                    </a:lnTo>
                    <a:cubicBezTo>
                      <a:pt x="0" y="45732"/>
                      <a:pt x="6557" y="29901"/>
                      <a:pt x="18229" y="18229"/>
                    </a:cubicBezTo>
                    <a:cubicBezTo>
                      <a:pt x="29901" y="6557"/>
                      <a:pt x="45732" y="0"/>
                      <a:pt x="62239" y="0"/>
                    </a:cubicBezTo>
                    <a:close/>
                  </a:path>
                </a:pathLst>
              </a:custGeom>
              <a:solidFill>
                <a:srgbClr val="F88D2A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9525"/>
                <a:ext cx="1670828" cy="640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299584" y="4396123"/>
              <a:ext cx="8158984" cy="1450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Troubleshooting firewall, routing, TLS, and service dependencies.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119984" y="4396123"/>
              <a:ext cx="8498542" cy="14509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Producing valid evidence without overstating PCI DSS compliance.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020866" y="2453023"/>
              <a:ext cx="423333" cy="1031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49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990453" y="2453023"/>
              <a:ext cx="423333" cy="1031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4999" b="1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17617" y="6236043"/>
              <a:ext cx="423333" cy="1031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49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990453" y="6236043"/>
              <a:ext cx="423333" cy="10318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999"/>
                </a:lnSpc>
              </a:pPr>
              <a:r>
                <a:rPr lang="en-US" sz="49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17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1" name="AutoShape 41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2" name="AutoShape 42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3" name="AutoShape 43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4" name="AutoShape 44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" name="AutoShape 45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6" name="AutoShape 46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47" name="Group 47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9" name="Freeform 49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0" name="TextBox 50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8843" y="2172110"/>
            <a:ext cx="6659137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Perspectives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9231"/>
            <a:ext cx="3790636" cy="414985"/>
          </a:xfrm>
          <a:custGeom>
            <a:avLst/>
            <a:gdLst/>
            <a:ahLst/>
            <a:cxnLst/>
            <a:rect l="l" t="t" r="r" b="b"/>
            <a:pathLst>
              <a:path w="3790636" h="414985">
                <a:moveTo>
                  <a:pt x="0" y="0"/>
                </a:moveTo>
                <a:lnTo>
                  <a:pt x="3790636" y="0"/>
                </a:lnTo>
                <a:lnTo>
                  <a:pt x="3790636" y="414985"/>
                </a:lnTo>
                <a:lnTo>
                  <a:pt x="0" y="41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3667223"/>
            <a:ext cx="8119054" cy="427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 Learned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 DSS Scoping and Procedures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Trust-zone and Least-connectivity Design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Troubleshooting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of Repeatable Validation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8" name="AutoShape 18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3" name="AutoShape 23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4" name="Group 24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6" name="Freeform 26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27" name="Group 27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140246" y="3667223"/>
            <a:ext cx="8119054" cy="360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Dedicated Firewalls and Switches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Jumpserver Directly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Full SIEM</a:t>
            </a:r>
          </a:p>
          <a:p>
            <a:pPr marL="755651" lvl="1" indent="-377825" algn="l">
              <a:lnSpc>
                <a:spcPts val="525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 the Knowledge of PCI DSS</a:t>
            </a:r>
          </a:p>
        </p:txBody>
      </p:sp>
      <p:sp>
        <p:nvSpPr>
          <p:cNvPr id="30" name="AutoShape 30"/>
          <p:cNvSpPr/>
          <p:nvPr/>
        </p:nvSpPr>
        <p:spPr>
          <a:xfrm>
            <a:off x="9147755" y="3789926"/>
            <a:ext cx="0" cy="4224879"/>
          </a:xfrm>
          <a:prstGeom prst="line">
            <a:avLst/>
          </a:prstGeom>
          <a:ln w="38100" cap="flat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31" name="Freeform 31"/>
          <p:cNvSpPr/>
          <p:nvPr/>
        </p:nvSpPr>
        <p:spPr>
          <a:xfrm>
            <a:off x="316963" y="8014806"/>
            <a:ext cx="1939309" cy="1939309"/>
          </a:xfrm>
          <a:custGeom>
            <a:avLst/>
            <a:gdLst/>
            <a:ahLst/>
            <a:cxnLst/>
            <a:rect l="l" t="t" r="r" b="b"/>
            <a:pathLst>
              <a:path w="1939309" h="1939309">
                <a:moveTo>
                  <a:pt x="0" y="0"/>
                </a:moveTo>
                <a:lnTo>
                  <a:pt x="1939309" y="0"/>
                </a:lnTo>
                <a:lnTo>
                  <a:pt x="1939309" y="1939310"/>
                </a:lnTo>
                <a:lnTo>
                  <a:pt x="0" y="1939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2" name="TextBox 32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335856" y="107518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684174" y="306886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1309" y="2172110"/>
            <a:ext cx="6659137" cy="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" name="Freeform 3"/>
          <p:cNvSpPr/>
          <p:nvPr/>
        </p:nvSpPr>
        <p:spPr>
          <a:xfrm>
            <a:off x="488499" y="2759231"/>
            <a:ext cx="3572694" cy="414985"/>
          </a:xfrm>
          <a:custGeom>
            <a:avLst/>
            <a:gdLst/>
            <a:ahLst/>
            <a:cxnLst/>
            <a:rect l="l" t="t" r="r" b="b"/>
            <a:pathLst>
              <a:path w="3572694" h="414985">
                <a:moveTo>
                  <a:pt x="0" y="0"/>
                </a:moveTo>
                <a:lnTo>
                  <a:pt x="3572694" y="0"/>
                </a:lnTo>
                <a:lnTo>
                  <a:pt x="3572694" y="414985"/>
                </a:lnTo>
                <a:lnTo>
                  <a:pt x="0" y="4149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028700" y="3448050"/>
            <a:ext cx="16230600" cy="581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B. Williams and J. Adamson, PCI Compliance: Understand and Implement Effective PCI Data Security Standard Compliance. Boca Raton, FL, USA: CRC Press, 2022.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R. Devabhaktuni and G. Venkatasubbu, "Enclave Driven Tokenization: Reducing PCI DSS Scope in Cloud Native Checkout Systems," in Proc. IEEE 5th Int. Conf. AI in Cybersecurity (ICAIC), Houston, TX, USA, 2026, pp. 1–6, doi: 10.1109/ICAIC67076.2026.11395784.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J. Rees, "Tackling the PCI DSS challenges," Network Security, vol. 2012, no. 1, pp. 15–17, 2012, doi: 10.1016/S1361-3723(12)70009-X.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N. Mhaskar, M. Alabbad, and R. Khedri, "A Formal Approach to Network Segmentation," Computers &amp; Security, vol. 102, p. 102162, 2021, doi: 10.1016/j.cose.2020.102162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V. Gil Laredo, "PCI DSS compliance: a matter of strategy," Computer Fraud &amp; Security, vol. 2008, no. 4, pp. 9–12, 2008, doi: 10.1016/S0965-2590(08)70094-X.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C. Wang and W. P. Rey, "Securing Retail Payments: A PCI-DSS Compliant Network Design for Distributed Point-of-Sale Systems," in Proc. 11th Int. Conf. Communication and Information Processing (ICCIP '25), New York, NY, USA: ACM, 2026, pp. 584–591, doi: 10.1145/3784833.3784909.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K. Bhargavan, C. Fournet, M. Kohlweiss, A. Pironti, and P.-Y. Strub, "Implementing TLS with Verified Cryptographic Security," in Proc. IEEE Symposium on Security and Privacy (SP '13), Berkeley, CA, USA, 2013, pp. 445–459, doi: 10.1109/SP.2013.37.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W. Reese, "Nginx: the high-performance web server and reverse proxy," Linux Journal, vol. 2008, no. 173, Art. no. 2, Sep. 2008.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D. Deeths and G. Brunette, "Using NTP to Control and Synchronize System Clocks - Part I: Introduction to NTP," Sun Microsystems, Tech. Rep., 2001.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PCI Security Standards Council, "Payment Card Industry (PCI) Data Security Standard: Requirements and Testing Procedures," Ver. 4.0.1, 2024.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PCI Security Standards Council, "PCI DSS v4.x Quick Reference Guide," 2025.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PCI Security Standards Council, "Guidance for PCI DSS Scoping and Network Segmentation," 2017.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LBMC, "Qualities of Good Network Diagrams for PCI," White Paper, n.d.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2400" y="133350"/>
            <a:ext cx="2340073" cy="857250"/>
            <a:chOff x="0" y="0"/>
            <a:chExt cx="3120098" cy="1143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0136" cy="1143000"/>
            </a:xfrm>
            <a:custGeom>
              <a:avLst/>
              <a:gdLst/>
              <a:ahLst/>
              <a:cxnLst/>
              <a:rect l="l" t="t" r="r" b="b"/>
              <a:pathLst>
                <a:path w="3120136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929636" y="0"/>
                  </a:lnTo>
                  <a:cubicBezTo>
                    <a:pt x="3034792" y="0"/>
                    <a:pt x="3120136" y="85344"/>
                    <a:pt x="3120136" y="190500"/>
                  </a:cubicBezTo>
                  <a:lnTo>
                    <a:pt x="3120136" y="952500"/>
                  </a:lnTo>
                  <a:cubicBezTo>
                    <a:pt x="3120136" y="1057656"/>
                    <a:pt x="3034792" y="1143000"/>
                    <a:pt x="2929636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8601" y="298085"/>
            <a:ext cx="1867672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612898" y="102956"/>
            <a:ext cx="2926309" cy="857250"/>
            <a:chOff x="0" y="0"/>
            <a:chExt cx="3901745" cy="1143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01694" cy="1143000"/>
            </a:xfrm>
            <a:custGeom>
              <a:avLst/>
              <a:gdLst/>
              <a:ahLst/>
              <a:cxnLst/>
              <a:rect l="l" t="t" r="r" b="b"/>
              <a:pathLst>
                <a:path w="3901694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711194" y="0"/>
                  </a:lnTo>
                  <a:cubicBezTo>
                    <a:pt x="3816350" y="0"/>
                    <a:pt x="3901694" y="85344"/>
                    <a:pt x="3901694" y="190500"/>
                  </a:cubicBezTo>
                  <a:lnTo>
                    <a:pt x="3901694" y="952500"/>
                  </a:lnTo>
                  <a:cubicBezTo>
                    <a:pt x="3901694" y="1057656"/>
                    <a:pt x="3816350" y="1143000"/>
                    <a:pt x="3711194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53966" y="311944"/>
            <a:ext cx="2628033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Description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662555" y="102956"/>
            <a:ext cx="2732161" cy="857250"/>
            <a:chOff x="0" y="0"/>
            <a:chExt cx="3642881" cy="1143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642868" cy="1143000"/>
            </a:xfrm>
            <a:custGeom>
              <a:avLst/>
              <a:gdLst/>
              <a:ahLst/>
              <a:cxnLst/>
              <a:rect l="l" t="t" r="r" b="b"/>
              <a:pathLst>
                <a:path w="3642868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452368" y="0"/>
                  </a:lnTo>
                  <a:cubicBezTo>
                    <a:pt x="3557524" y="0"/>
                    <a:pt x="3642868" y="85344"/>
                    <a:pt x="3642868" y="190500"/>
                  </a:cubicBezTo>
                  <a:lnTo>
                    <a:pt x="3642868" y="952500"/>
                  </a:lnTo>
                  <a:cubicBezTo>
                    <a:pt x="3642868" y="1057656"/>
                    <a:pt x="3557524" y="1143000"/>
                    <a:pt x="3452368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761901" y="296304"/>
            <a:ext cx="2553233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530876" y="102956"/>
            <a:ext cx="1990058" cy="857250"/>
            <a:chOff x="0" y="0"/>
            <a:chExt cx="2653411" cy="1143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53411" cy="1143000"/>
            </a:xfrm>
            <a:custGeom>
              <a:avLst/>
              <a:gdLst/>
              <a:ahLst/>
              <a:cxnLst/>
              <a:rect l="l" t="t" r="r" b="b"/>
              <a:pathLst>
                <a:path w="265341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2462911" y="0"/>
                  </a:lnTo>
                  <a:cubicBezTo>
                    <a:pt x="2568067" y="0"/>
                    <a:pt x="2653411" y="85344"/>
                    <a:pt x="2653411" y="190500"/>
                  </a:cubicBezTo>
                  <a:lnTo>
                    <a:pt x="2653411" y="952500"/>
                  </a:lnTo>
                  <a:cubicBezTo>
                    <a:pt x="2653411" y="1057656"/>
                    <a:pt x="2568067" y="1143000"/>
                    <a:pt x="246291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8628078" y="311048"/>
            <a:ext cx="1810055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648464" y="102327"/>
            <a:ext cx="1424273" cy="857250"/>
            <a:chOff x="0" y="0"/>
            <a:chExt cx="1899031" cy="1143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99031" cy="1143000"/>
            </a:xfrm>
            <a:custGeom>
              <a:avLst/>
              <a:gdLst/>
              <a:ahLst/>
              <a:cxnLst/>
              <a:rect l="l" t="t" r="r" b="b"/>
              <a:pathLst>
                <a:path w="1899031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1708531" y="0"/>
                  </a:lnTo>
                  <a:cubicBezTo>
                    <a:pt x="1813687" y="0"/>
                    <a:pt x="1899031" y="85344"/>
                    <a:pt x="1899031" y="190500"/>
                  </a:cubicBezTo>
                  <a:lnTo>
                    <a:pt x="1899031" y="952500"/>
                  </a:lnTo>
                  <a:cubicBezTo>
                    <a:pt x="1899031" y="1057656"/>
                    <a:pt x="1813687" y="1143000"/>
                    <a:pt x="1708531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744029" y="310410"/>
            <a:ext cx="1243460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Finding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2205602" y="102956"/>
            <a:ext cx="2621328" cy="857250"/>
            <a:chOff x="0" y="0"/>
            <a:chExt cx="3495104" cy="1143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95040" cy="1143000"/>
            </a:xfrm>
            <a:custGeom>
              <a:avLst/>
              <a:gdLst/>
              <a:ahLst/>
              <a:cxnLst/>
              <a:rect l="l" t="t" r="r" b="b"/>
              <a:pathLst>
                <a:path w="3495040" h="1143000">
                  <a:moveTo>
                    <a:pt x="0" y="190500"/>
                  </a:moveTo>
                  <a:cubicBezTo>
                    <a:pt x="0" y="85344"/>
                    <a:pt x="85344" y="0"/>
                    <a:pt x="190500" y="0"/>
                  </a:cubicBezTo>
                  <a:lnTo>
                    <a:pt x="3304540" y="0"/>
                  </a:lnTo>
                  <a:cubicBezTo>
                    <a:pt x="3409696" y="0"/>
                    <a:pt x="3495040" y="85344"/>
                    <a:pt x="3495040" y="190500"/>
                  </a:cubicBezTo>
                  <a:lnTo>
                    <a:pt x="3495040" y="952500"/>
                  </a:lnTo>
                  <a:cubicBezTo>
                    <a:pt x="3495040" y="1057656"/>
                    <a:pt x="3409696" y="1143000"/>
                    <a:pt x="3304540" y="1143000"/>
                  </a:cubicBezTo>
                  <a:lnTo>
                    <a:pt x="190500" y="1143000"/>
                  </a:lnTo>
                  <a:cubicBezTo>
                    <a:pt x="85344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>
                <a:alpha val="24706"/>
              </a:srgbClr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304624" y="119320"/>
            <a:ext cx="2442239" cy="79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&amp; Recommendation</a:t>
            </a:r>
          </a:p>
        </p:txBody>
      </p:sp>
      <p:sp>
        <p:nvSpPr>
          <p:cNvPr id="23" name="AutoShape 23"/>
          <p:cNvSpPr/>
          <p:nvPr/>
        </p:nvSpPr>
        <p:spPr>
          <a:xfrm rot="5260980">
            <a:off x="2202847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4" name="AutoShape 24"/>
          <p:cNvSpPr/>
          <p:nvPr/>
        </p:nvSpPr>
        <p:spPr>
          <a:xfrm rot="5260980">
            <a:off x="5252333" y="550193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5" name="AutoShape 25"/>
          <p:cNvSpPr/>
          <p:nvPr/>
        </p:nvSpPr>
        <p:spPr>
          <a:xfrm rot="5260980">
            <a:off x="8113538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6" name="AutoShape 26"/>
          <p:cNvSpPr/>
          <p:nvPr/>
        </p:nvSpPr>
        <p:spPr>
          <a:xfrm rot="5260980">
            <a:off x="10236289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7" name="AutoShape 27"/>
          <p:cNvSpPr/>
          <p:nvPr/>
        </p:nvSpPr>
        <p:spPr>
          <a:xfrm rot="5260980">
            <a:off x="11791436" y="549659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8" name="AutoShape 28"/>
          <p:cNvSpPr/>
          <p:nvPr/>
        </p:nvSpPr>
        <p:spPr>
          <a:xfrm rot="5260980">
            <a:off x="14536083" y="549021"/>
            <a:ext cx="706879" cy="0"/>
          </a:xfrm>
          <a:prstGeom prst="line">
            <a:avLst/>
          </a:prstGeom>
          <a:ln w="19050" cap="rnd">
            <a:solidFill>
              <a:srgbClr val="00206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29" name="Group 29"/>
          <p:cNvGrpSpPr/>
          <p:nvPr/>
        </p:nvGrpSpPr>
        <p:grpSpPr>
          <a:xfrm>
            <a:off x="14960954" y="95983"/>
            <a:ext cx="2988747" cy="857250"/>
            <a:chOff x="0" y="0"/>
            <a:chExt cx="3984995" cy="1143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984973" cy="1143000"/>
            </a:xfrm>
            <a:custGeom>
              <a:avLst/>
              <a:gdLst/>
              <a:ahLst/>
              <a:cxnLst/>
              <a:rect l="l" t="t" r="r" b="b"/>
              <a:pathLst>
                <a:path w="3984973" h="1143000">
                  <a:moveTo>
                    <a:pt x="0" y="190500"/>
                  </a:moveTo>
                  <a:cubicBezTo>
                    <a:pt x="0" y="85344"/>
                    <a:pt x="148065" y="0"/>
                    <a:pt x="330502" y="0"/>
                  </a:cubicBezTo>
                  <a:lnTo>
                    <a:pt x="3654472" y="0"/>
                  </a:lnTo>
                  <a:cubicBezTo>
                    <a:pt x="3836908" y="0"/>
                    <a:pt x="3984973" y="85344"/>
                    <a:pt x="3984973" y="190500"/>
                  </a:cubicBezTo>
                  <a:lnTo>
                    <a:pt x="3984973" y="952500"/>
                  </a:lnTo>
                  <a:cubicBezTo>
                    <a:pt x="3984973" y="1057656"/>
                    <a:pt x="3836908" y="1143000"/>
                    <a:pt x="3654472" y="1143000"/>
                  </a:cubicBezTo>
                  <a:lnTo>
                    <a:pt x="330502" y="1143000"/>
                  </a:lnTo>
                  <a:cubicBezTo>
                    <a:pt x="148065" y="1143000"/>
                    <a:pt x="0" y="1057656"/>
                    <a:pt x="0" y="952500"/>
                  </a:cubicBez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684174" y="344253"/>
            <a:ext cx="1542307" cy="425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32" name="Freeform 32"/>
          <p:cNvSpPr/>
          <p:nvPr/>
        </p:nvSpPr>
        <p:spPr>
          <a:xfrm>
            <a:off x="1581236" y="935307"/>
            <a:ext cx="16481346" cy="370732"/>
          </a:xfrm>
          <a:custGeom>
            <a:avLst/>
            <a:gdLst/>
            <a:ahLst/>
            <a:cxnLst/>
            <a:rect l="l" t="t" r="r" b="b"/>
            <a:pathLst>
              <a:path w="16481346" h="370732">
                <a:moveTo>
                  <a:pt x="0" y="0"/>
                </a:moveTo>
                <a:lnTo>
                  <a:pt x="16481345" y="0"/>
                </a:lnTo>
                <a:lnTo>
                  <a:pt x="16481345" y="370732"/>
                </a:lnTo>
                <a:lnTo>
                  <a:pt x="0" y="370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3" name="Group 33"/>
          <p:cNvGrpSpPr/>
          <p:nvPr/>
        </p:nvGrpSpPr>
        <p:grpSpPr>
          <a:xfrm>
            <a:off x="16240135" y="9604705"/>
            <a:ext cx="2064391" cy="698821"/>
            <a:chOff x="0" y="0"/>
            <a:chExt cx="2752522" cy="93176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752598" cy="931799"/>
            </a:xfrm>
            <a:custGeom>
              <a:avLst/>
              <a:gdLst/>
              <a:ahLst/>
              <a:cxnLst/>
              <a:rect l="l" t="t" r="r" b="b"/>
              <a:pathLst>
                <a:path w="2752598" h="931799">
                  <a:moveTo>
                    <a:pt x="1068070" y="36195"/>
                  </a:moveTo>
                  <a:lnTo>
                    <a:pt x="2745613" y="0"/>
                  </a:lnTo>
                  <a:cubicBezTo>
                    <a:pt x="2747899" y="310642"/>
                    <a:pt x="2750185" y="621157"/>
                    <a:pt x="2752598" y="931799"/>
                  </a:cubicBezTo>
                  <a:lnTo>
                    <a:pt x="0" y="931799"/>
                  </a:lnTo>
                  <a:lnTo>
                    <a:pt x="1068070" y="36195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7643478" y="9593753"/>
            <a:ext cx="152400" cy="2476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38601" y="1839230"/>
            <a:ext cx="14010789" cy="6513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9"/>
              </a:lnSpc>
            </a:pPr>
            <a:r>
              <a:rPr lang="en-US" sz="207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62400" y="-14288"/>
            <a:ext cx="276454" cy="3317110"/>
            <a:chOff x="0" y="0"/>
            <a:chExt cx="368605" cy="44228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8554" cy="4422775"/>
            </a:xfrm>
            <a:custGeom>
              <a:avLst/>
              <a:gdLst/>
              <a:ahLst/>
              <a:cxnLst/>
              <a:rect l="l" t="t" r="r" b="b"/>
              <a:pathLst>
                <a:path w="368554" h="4422775">
                  <a:moveTo>
                    <a:pt x="0" y="0"/>
                  </a:moveTo>
                  <a:lnTo>
                    <a:pt x="368554" y="0"/>
                  </a:lnTo>
                  <a:lnTo>
                    <a:pt x="368554" y="4422775"/>
                  </a:lnTo>
                  <a:lnTo>
                    <a:pt x="0" y="4422775"/>
                  </a:lnTo>
                  <a:close/>
                </a:path>
              </a:pathLst>
            </a:custGeom>
            <a:solidFill>
              <a:srgbClr val="002060"/>
            </a:solidFill>
            <a:ln w="28575" cap="sq">
              <a:solidFill>
                <a:srgbClr val="00206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6129" y="-1041606"/>
            <a:ext cx="114348" cy="3317110"/>
            <a:chOff x="0" y="0"/>
            <a:chExt cx="152464" cy="44228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00" cy="4422775"/>
            </a:xfrm>
            <a:custGeom>
              <a:avLst/>
              <a:gdLst/>
              <a:ahLst/>
              <a:cxnLst/>
              <a:rect l="l" t="t" r="r" b="b"/>
              <a:pathLst>
                <a:path w="152400" h="4422775">
                  <a:moveTo>
                    <a:pt x="0" y="0"/>
                  </a:moveTo>
                  <a:lnTo>
                    <a:pt x="152400" y="0"/>
                  </a:lnTo>
                  <a:lnTo>
                    <a:pt x="152400" y="4422775"/>
                  </a:lnTo>
                  <a:lnTo>
                    <a:pt x="0" y="4422775"/>
                  </a:lnTo>
                  <a:close/>
                </a:path>
              </a:pathLst>
            </a:custGeom>
            <a:solidFill>
              <a:srgbClr val="002060"/>
            </a:solidFill>
            <a:ln w="28575" cap="sq">
              <a:solidFill>
                <a:srgbClr val="00206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89016" y="-798719"/>
            <a:ext cx="85773" cy="3288535"/>
            <a:chOff x="0" y="0"/>
            <a:chExt cx="114364" cy="43847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4300" cy="4384675"/>
            </a:xfrm>
            <a:custGeom>
              <a:avLst/>
              <a:gdLst/>
              <a:ahLst/>
              <a:cxnLst/>
              <a:rect l="l" t="t" r="r" b="b"/>
              <a:pathLst>
                <a:path w="114300" h="4384675">
                  <a:moveTo>
                    <a:pt x="0" y="0"/>
                  </a:moveTo>
                  <a:lnTo>
                    <a:pt x="114300" y="0"/>
                  </a:lnTo>
                  <a:lnTo>
                    <a:pt x="114300" y="4384675"/>
                  </a:lnTo>
                  <a:lnTo>
                    <a:pt x="0" y="4384675"/>
                  </a:lnTo>
                  <a:close/>
                </a:path>
              </a:pathLst>
            </a:custGeom>
            <a:solidFill>
              <a:srgbClr val="E9713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679705" y="8226847"/>
            <a:ext cx="247879" cy="3288535"/>
            <a:chOff x="0" y="0"/>
            <a:chExt cx="330505" cy="438471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0454" cy="4384675"/>
            </a:xfrm>
            <a:custGeom>
              <a:avLst/>
              <a:gdLst/>
              <a:ahLst/>
              <a:cxnLst/>
              <a:rect l="l" t="t" r="r" b="b"/>
              <a:pathLst>
                <a:path w="330454" h="4384675">
                  <a:moveTo>
                    <a:pt x="0" y="0"/>
                  </a:moveTo>
                  <a:lnTo>
                    <a:pt x="330454" y="0"/>
                  </a:lnTo>
                  <a:lnTo>
                    <a:pt x="330454" y="4384675"/>
                  </a:lnTo>
                  <a:lnTo>
                    <a:pt x="0" y="4384675"/>
                  </a:lnTo>
                  <a:close/>
                </a:path>
              </a:pathLst>
            </a:custGeom>
            <a:solidFill>
              <a:srgbClr val="E9713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263434" y="7199519"/>
            <a:ext cx="85773" cy="3288535"/>
            <a:chOff x="0" y="0"/>
            <a:chExt cx="114364" cy="43847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4300" cy="4384675"/>
            </a:xfrm>
            <a:custGeom>
              <a:avLst/>
              <a:gdLst/>
              <a:ahLst/>
              <a:cxnLst/>
              <a:rect l="l" t="t" r="r" b="b"/>
              <a:pathLst>
                <a:path w="114300" h="4384675">
                  <a:moveTo>
                    <a:pt x="0" y="0"/>
                  </a:moveTo>
                  <a:lnTo>
                    <a:pt x="114300" y="0"/>
                  </a:lnTo>
                  <a:lnTo>
                    <a:pt x="114300" y="4384675"/>
                  </a:lnTo>
                  <a:lnTo>
                    <a:pt x="0" y="4384675"/>
                  </a:lnTo>
                  <a:close/>
                </a:path>
              </a:pathLst>
            </a:custGeom>
            <a:solidFill>
              <a:srgbClr val="E97132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492034" y="7428119"/>
            <a:ext cx="85773" cy="3288535"/>
            <a:chOff x="0" y="0"/>
            <a:chExt cx="114364" cy="43847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300" cy="4384675"/>
            </a:xfrm>
            <a:custGeom>
              <a:avLst/>
              <a:gdLst/>
              <a:ahLst/>
              <a:cxnLst/>
              <a:rect l="l" t="t" r="r" b="b"/>
              <a:pathLst>
                <a:path w="114300" h="4384675">
                  <a:moveTo>
                    <a:pt x="0" y="0"/>
                  </a:moveTo>
                  <a:lnTo>
                    <a:pt x="114300" y="0"/>
                  </a:lnTo>
                  <a:lnTo>
                    <a:pt x="114300" y="4384675"/>
                  </a:lnTo>
                  <a:lnTo>
                    <a:pt x="0" y="4384675"/>
                  </a:lnTo>
                  <a:close/>
                </a:path>
              </a:pathLst>
            </a:custGeom>
            <a:solidFill>
              <a:srgbClr val="12284C"/>
            </a:solid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29910" y="3088862"/>
            <a:ext cx="13628180" cy="3993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80"/>
              </a:lnSpc>
            </a:pPr>
            <a:r>
              <a:rPr lang="en-US" sz="24900" b="1">
                <a:solidFill>
                  <a:srgbClr val="F88D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  <a:r>
              <a:rPr lang="en-US" sz="24900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Q &amp; A </a:t>
            </a:r>
            <a:r>
              <a:rPr lang="en-US" sz="24900" b="1">
                <a:solidFill>
                  <a:srgbClr val="F88D2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</a:t>
            </a:r>
          </a:p>
        </p:txBody>
      </p:sp>
      <p:sp>
        <p:nvSpPr>
          <p:cNvPr id="3" name="Freeform 3"/>
          <p:cNvSpPr/>
          <p:nvPr/>
        </p:nvSpPr>
        <p:spPr>
          <a:xfrm>
            <a:off x="-1099347" y="8351958"/>
            <a:ext cx="19387347" cy="2754163"/>
          </a:xfrm>
          <a:custGeom>
            <a:avLst/>
            <a:gdLst/>
            <a:ahLst/>
            <a:cxnLst/>
            <a:rect l="l" t="t" r="r" b="b"/>
            <a:pathLst>
              <a:path w="19387347" h="2754163">
                <a:moveTo>
                  <a:pt x="0" y="0"/>
                </a:moveTo>
                <a:lnTo>
                  <a:pt x="19387347" y="0"/>
                </a:lnTo>
                <a:lnTo>
                  <a:pt x="19387347" y="2754163"/>
                </a:lnTo>
                <a:lnTo>
                  <a:pt x="0" y="2754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7800034" y="-14288"/>
            <a:ext cx="276454" cy="3317110"/>
            <a:chOff x="0" y="0"/>
            <a:chExt cx="368605" cy="44228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8554" cy="4422775"/>
            </a:xfrm>
            <a:custGeom>
              <a:avLst/>
              <a:gdLst/>
              <a:ahLst/>
              <a:cxnLst/>
              <a:rect l="l" t="t" r="r" b="b"/>
              <a:pathLst>
                <a:path w="368554" h="4422775">
                  <a:moveTo>
                    <a:pt x="0" y="0"/>
                  </a:moveTo>
                  <a:lnTo>
                    <a:pt x="368554" y="0"/>
                  </a:lnTo>
                  <a:lnTo>
                    <a:pt x="368554" y="4422775"/>
                  </a:lnTo>
                  <a:lnTo>
                    <a:pt x="0" y="4422775"/>
                  </a:lnTo>
                  <a:close/>
                </a:path>
              </a:pathLst>
            </a:custGeom>
            <a:solidFill>
              <a:srgbClr val="002060"/>
            </a:solidFill>
            <a:ln w="28575" cap="sq">
              <a:solidFill>
                <a:srgbClr val="00206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383754" y="-1041606"/>
            <a:ext cx="114348" cy="3317110"/>
            <a:chOff x="0" y="0"/>
            <a:chExt cx="152464" cy="44228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4422775"/>
            </a:xfrm>
            <a:custGeom>
              <a:avLst/>
              <a:gdLst/>
              <a:ahLst/>
              <a:cxnLst/>
              <a:rect l="l" t="t" r="r" b="b"/>
              <a:pathLst>
                <a:path w="152400" h="4422775">
                  <a:moveTo>
                    <a:pt x="0" y="0"/>
                  </a:moveTo>
                  <a:lnTo>
                    <a:pt x="152400" y="0"/>
                  </a:lnTo>
                  <a:lnTo>
                    <a:pt x="152400" y="4422775"/>
                  </a:lnTo>
                  <a:lnTo>
                    <a:pt x="0" y="4422775"/>
                  </a:lnTo>
                  <a:close/>
                </a:path>
              </a:pathLst>
            </a:custGeom>
            <a:solidFill>
              <a:srgbClr val="002060"/>
            </a:solidFill>
            <a:ln w="28575" cap="sq">
              <a:solidFill>
                <a:srgbClr val="00206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626641" y="-798719"/>
            <a:ext cx="85773" cy="3288535"/>
            <a:chOff x="0" y="0"/>
            <a:chExt cx="114364" cy="43847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" cy="4384675"/>
            </a:xfrm>
            <a:custGeom>
              <a:avLst/>
              <a:gdLst/>
              <a:ahLst/>
              <a:cxnLst/>
              <a:rect l="l" t="t" r="r" b="b"/>
              <a:pathLst>
                <a:path w="114300" h="4384675">
                  <a:moveTo>
                    <a:pt x="0" y="0"/>
                  </a:moveTo>
                  <a:lnTo>
                    <a:pt x="114300" y="0"/>
                  </a:lnTo>
                  <a:lnTo>
                    <a:pt x="114300" y="4384675"/>
                  </a:lnTo>
                  <a:lnTo>
                    <a:pt x="0" y="4384675"/>
                  </a:lnTo>
                  <a:close/>
                </a:path>
              </a:pathLst>
            </a:custGeom>
            <a:solidFill>
              <a:srgbClr val="E97132"/>
            </a:solid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1230</Words>
  <Application>Microsoft Office PowerPoint</Application>
  <PresentationFormat>Custom</PresentationFormat>
  <Paragraphs>290</Paragraphs>
  <Slides>21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Times New Roman Bold</vt:lpstr>
      <vt:lpstr>Times New Roman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Slide Template (1).pptx</dc:title>
  <cp:lastModifiedBy>DAYUTH THY</cp:lastModifiedBy>
  <cp:revision>2</cp:revision>
  <dcterms:created xsi:type="dcterms:W3CDTF">2006-08-16T00:00:00Z</dcterms:created>
  <dcterms:modified xsi:type="dcterms:W3CDTF">2026-07-24T15:45:02Z</dcterms:modified>
  <dc:identifier>DAHQE9lJ4Dg</dc:identifier>
</cp:coreProperties>
</file>